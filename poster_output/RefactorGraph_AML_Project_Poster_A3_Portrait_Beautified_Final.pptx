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slides/charts/chart1.xml" ContentType="application/vnd.openxmlformats-officedocument.drawingml.chart+xml"/>
  <Override PartName="/ppt/notesSlides/notesSlide1.xml" ContentType="application/vnd.openxmlformats-officedocument.presentationml.notesSlide+xml"/>
  <Default Extension="xlsx" ContentType="application/vnd.openxmlformats-officedocument.spreadsheetml.sheet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dc81d694d38c4812" /><Relationship Type="http://schemas.openxmlformats.org/officeDocument/2006/relationships/extended-properties" Target="/docProps/app.xml" Id="R321aa0e20c8d4668" /><Relationship Type="http://schemas.openxmlformats.org/officeDocument/2006/relationships/officeDocument" Target="/ppt/presentation.xml" Id="Ra7535dacd5b2461b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250bfa742e624367"/>
  </p:sldMasterIdLst>
  <p:notesMasterIdLst>
    <p:notesMasterId xmlns:r="http://schemas.openxmlformats.org/officeDocument/2006/relationships" r:id="R6c56919f0d8e40c9"/>
  </p:notesMasterIdLst>
  <p:sldIdLst>
    <p:sldId xmlns:r="http://schemas.openxmlformats.org/officeDocument/2006/relationships" id="256" r:id="R2807fcd17ef4446b"/>
  </p:sldIdLst>
  <p:sldSz cx="10691813" cy="1511935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slideViewPr>
    <p:cSldViewPr snapToGrid="0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2008" cy="72008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57a9a7905ffb4b41" /><Relationship Type="http://schemas.openxmlformats.org/officeDocument/2006/relationships/slideMaster" Target="/ppt/slideMasters/slideMaster1.xml" Id="R250bfa742e624367" /><Relationship Type="http://schemas.openxmlformats.org/officeDocument/2006/relationships/notesMaster" Target="/ppt/notesMasters/notesMaster1.xml" Id="R6c56919f0d8e40c9" /><Relationship Type="http://schemas.openxmlformats.org/officeDocument/2006/relationships/presProps" Target="/ppt/presProps.xml" Id="R7a82b9817fd84a28" /><Relationship Type="http://schemas.openxmlformats.org/officeDocument/2006/relationships/viewProps" Target="/ppt/viewProps.xml" Id="R753720063e7943f7" /><Relationship Type="http://schemas.openxmlformats.org/officeDocument/2006/relationships/tableStyles" Target="/ppt/tableStyles.xml" Id="R0d60fa1afb634648" /><Relationship Type="http://schemas.openxmlformats.org/officeDocument/2006/relationships/slide" Target="/ppt/slides/slide1.xml" Id="R2807fcd17ef4446b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318aff9057e64eb4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36df47d4eaf4440e" /><Relationship Type="http://schemas.openxmlformats.org/officeDocument/2006/relationships/notesMaster" Target="/ppt/notesMasters/notesMaster1.xml" Id="Ree3842dedde2404d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A3 portrait poster. All project claims and metrics are derived exclusively from AML_Project_Summary.docx. The header artwork is an abstract decorative illustration and does not encode additional project claims.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d0a11dc9b6847d3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64fa1c7463bd4453" /><Relationship Type="http://schemas.openxmlformats.org/officeDocument/2006/relationships/slideLayout" Target="/ppt/slideLayouts/slideLayout1.xml" Id="Rdd5c4695b4cc428c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dd5c4695b4cc428c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0c6e4d4196a4407" /><Relationship Type="http://schemas.openxmlformats.org/officeDocument/2006/relationships/image" Target="/ppt/media/image.png" Id="R5d08fe783a564ae1" /><Relationship Type="http://schemas.openxmlformats.org/officeDocument/2006/relationships/chart" Target="/ppt/slides/charts/chart1.xml" Id="R643c6a7e05384605" /><Relationship Type="http://schemas.openxmlformats.org/officeDocument/2006/relationships/notesSlide" Target="/ppt/notesSlides/notesSlide1.xml" Id="R016d69020ba547a6" /></Relationships>
</file>

<file path=ppt/slides/charts/_rels/chart1.xml.rels><Relationships xmlns="http://schemas.openxmlformats.org/package/2006/relationships"><Relationship Id="rIdChartSnapshot1" Type="http://schemas.openxmlformats.org/officeDocument/2006/relationships/package" Target="../../embeddings/chart-data-snapshot-001.xlsx"/></Relationships>
</file>

<file path=ppt/slides/charts/chart1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bar"/>
        <c:grouping val="clustered"/>
        <c:varyColors val="0"/>
        <c:ser>
          <c:idx val="0"/>
          <c:order val="0"/>
          <c:tx>
            <c:v>Candidate F1</c:v>
          </c:tx>
          <c:spPr>
            <a:solidFill xmlns:a="http://schemas.openxmlformats.org/drawingml/2006/main">
              <a:srgbClr val="087E84"/>
            </a:solidFill>
          </c:spPr>
          <c:dPt>
            <c:idx val="3"/>
            <c:invertIfNegative val="0"/>
            <c:spPr>
              <a:solidFill xmlns:a="http://schemas.openxmlformats.org/drawingml/2006/main">
                <a:srgbClr val="D39A2C"/>
              </a:solidFill>
            </c:spPr>
          </c:dPt>
          <c:cat>
            <c:strRef>
              <c:f>'Chart Data'!$A$2:$A$5</c:f>
              <c:strCache>
                <c:ptCount val="4"/>
                <c:pt idx="0">
                  <c:v>Long Method</c:v>
                </c:pt>
                <c:pt idx="1">
                  <c:v>Feature Envy</c:v>
                </c:pt>
                <c:pt idx="2">
                  <c:v>God Class</c:v>
                </c:pt>
                <c:pt idx="3">
                  <c:v>Macro-F1</c:v>
                </c:pt>
              </c:strCache>
            </c:strRef>
          </c:cat>
          <c:val>
            <c:numRef>
              <c:f>'Chart Data'!$B$2:$B$5</c:f>
              <c:numCache>
                <c:formatCode>0.0000</c:formatCode>
                <c:ptCount val="4"/>
                <c:pt idx="0">
                  <c:v>0.774</c:v>
                </c:pt>
                <c:pt idx="1">
                  <c:v>0.5272</c:v>
                </c:pt>
                <c:pt idx="2">
                  <c:v>0.8075</c:v>
                </c:pt>
                <c:pt idx="3">
                  <c:v>0.7029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863" b="1">
                  <a:solidFill>
                    <a:srgbClr val="263846"/>
                  </a:solidFill>
                  <a:latin typeface="Arial"/>
                  <a:ea typeface="Arial"/>
                  <a:cs typeface="Arial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54"/>
        <c:axId val="48650112"/>
        <c:axId val="48672768"/>
      </c:barChart>
      <c:catAx>
        <c:axId val="48650112"/>
        <c:scaling>
          <c:orientation val="minMax"/>
        </c:scaling>
        <c:delete val="0"/>
        <c:axPos val="l"/>
        <c:majorGridlines>
          <c:spPr>
            <a:ln xmlns:a="http://schemas.openxmlformats.org/drawingml/2006/main" w="9525">
              <a:solidFill>
                <a:srgbClr val="E4E9EC"/>
              </a:solidFill>
              <a:prstDash val="solid"/>
            </a:ln>
          </c:spPr>
        </c:majorGridlines>
        <c:numFmt formatCode="0.0"/>
        <c:majorTickMark val="none"/>
        <c:minorTickMark val="none"/>
        <c:spPr>
          <a:ln xmlns:a="http://schemas.openxmlformats.org/drawingml/2006/main" w="9525">
            <a:solidFill>
              <a:srgbClr val="BFCAD1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788">
                <a:solidFill>
                  <a:srgbClr val="60727E"/>
                </a:solidFill>
                <a:latin typeface="Arial"/>
                <a:ea typeface="Arial"/>
                <a:cs typeface="Arial"/>
              </a:defRPr>
            </a:pPr>
          </a:p>
        </c:txPr>
        <c:crossAx val="48672768"/>
      </c:catAx>
      <c:valAx>
        <c:axId val="48672768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BFCAD1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863" b="1">
                <a:solidFill>
                  <a:srgbClr val="263846"/>
                </a:solidFill>
                <a:latin typeface="Arial"/>
                <a:ea typeface="Arial"/>
                <a:cs typeface="Arial"/>
              </a:defRPr>
            </a:pPr>
          </a:p>
        </c:txPr>
        <c:crossAx val="48650112"/>
        <c:crossBetween val="between"/>
      </c:valAx>
      <c:spPr>
        <a:solidFill xmlns:a="http://schemas.openxmlformats.org/drawingml/2006/main">
          <a:srgbClr val="FFFFFF"/>
        </a:solidFill>
        <a:ln xmlns:a="http://schemas.openxmlformats.org/drawingml/2006/main" w="0">
          <a:noFill/>
        </a:ln>
      </c:spPr>
    </c:plotArea>
    <c:plotVisOnly val="1"/>
  </c:chart>
  <c:spPr>
    <a:solidFill xmlns:a="http://schemas.openxmlformats.org/drawingml/2006/main">
      <a:srgbClr val="FFFFFF"/>
    </a:solidFill>
    <a:ln xmlns:a="http://schemas.openxmlformats.org/drawingml/2006/main" w="0">
      <a:noFill/>
    </a:ln>
  </c:spPr>
  <c:externalData r:id="rIdChartSnapshot1">
    <c:autoUpdate val="0"/>
  </c:externalData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8FA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1" name="Rectangle 110">
            <a:extLst xmlns:a="http://schemas.openxmlformats.org/drawingml/2006/main">
              <a:ext uri="{FF2B5EF4-FFF2-40B4-BE49-F238E27FC236}">
                <a16:creationId xmlns:a16="http://schemas.microsoft.com/office/drawing/2014/main" id="{C60B15C5-5CCF-4B58-BAAB-05180965E6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0692000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2035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FA352866-9879-499F-80B6-CFC1FE129B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724025"/>
            <a:ext cx="106920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9C95"/>
          </a:solidFill>
          <a:ln xmlns:a="http://schemas.openxmlformats.org/drawingml/2006/main" w="0">
            <a:noFill/>
          </a:ln>
        </p:spPr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67398B54-F73A-4C99-89AE-792D03F6D2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85750"/>
            <a:ext cx="6667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40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40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/>
            </a:r>
          </a:p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ED0864C1-0F70-4A73-BC19-80EE690649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981075"/>
            <a:ext cx="72390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00" b="0">
                <a:solidFill>
                  <a:srgbClr val="D7E7F1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D7E7F1"/>
                </a:solidFill>
                <a:latin typeface="Arial"/>
                <a:ea typeface="Arial"/>
                <a:cs typeface="Arial"/>
              </a:rPr>
              <a:t/>
            </a:r>
          </a:p>
        </p:txBody>
      </p:sp>
      <p:sp>
        <p:nvSpPr>
          <p:cNvPr id="5" name="Rectangle 4">
            <a:extLst xmlns:a="http://schemas.openxmlformats.org/drawingml/2006/main">
              <a:ext uri="{FF2B5EF4-FFF2-40B4-BE49-F238E27FC236}">
                <a16:creationId xmlns:a16="http://schemas.microsoft.com/office/drawing/2014/main" id="{DE8D7A3A-2CB8-4A52-BCF9-703CDCC2AB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304924"/>
            <a:ext cx="2891790" cy="127634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1">
                <a:solidFill>
                  <a:srgbClr val="E7A83A"/>
                </a:solidFill>
                <a:latin typeface="Arial"/>
                <a:ea typeface="Arial"/>
                <a:cs typeface="Arial"/>
              </a:defRPr>
            </a:pPr>
            <a:r>
              <a:rPr sz="1400" b="1">
                <a:solidFill>
                  <a:srgbClr val="E7A83A"/>
                </a:solidFill>
                <a:latin typeface="Arial"/>
                <a:ea typeface="Arial"/>
                <a:cs typeface="Arial"/>
              </a:rPr>
              <a:t/>
            </a:r>
          </a:p>
        </p:txBody>
      </p:sp>
      <p:sp>
        <p:nvSpPr>
          <p:cNvPr id="6" name="Rectangle 5">
            <a:extLst xmlns:a="http://schemas.openxmlformats.org/drawingml/2006/main">
              <a:ext uri="{FF2B5EF4-FFF2-40B4-BE49-F238E27FC236}">
                <a16:creationId xmlns:a16="http://schemas.microsoft.com/office/drawing/2014/main" id="{7442E168-ED57-43E1-B45F-D7B6C90B09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72375" y="409575"/>
            <a:ext cx="26098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t/>
            </a:r>
            <a:endParaRPr sz="1125" b="1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7" name="Rectangle 6">
            <a:extLst xmlns:a="http://schemas.openxmlformats.org/drawingml/2006/main">
              <a:ext uri="{FF2B5EF4-FFF2-40B4-BE49-F238E27FC236}">
                <a16:creationId xmlns:a16="http://schemas.microsoft.com/office/drawing/2014/main" id="{175C274B-FB13-4CBB-9E01-EFAAF70B92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1285875"/>
            <a:ext cx="23241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00" b="0">
                <a:solidFill>
                  <a:srgbClr val="D7E7F1"/>
                </a:solidFill>
                <a:latin typeface="Arial"/>
                <a:ea typeface="Arial"/>
                <a:cs typeface="Arial"/>
              </a:defRPr>
            </a:pPr>
            <a:r>
              <a:t/>
            </a:r>
            <a:endParaRPr sz="900" b="0">
              <a:solidFill>
                <a:srgbClr val="D7E7F1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8" name="Rectangle 7">
            <a:extLst xmlns:a="http://schemas.openxmlformats.org/drawingml/2006/main">
              <a:ext uri="{FF2B5EF4-FFF2-40B4-BE49-F238E27FC236}">
                <a16:creationId xmlns:a16="http://schemas.microsoft.com/office/drawing/2014/main" id="{0BDBCA51-6D92-4611-90C3-4238DDAA51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2114550"/>
            <a:ext cx="66675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9C95"/>
          </a:solidFill>
          <a:ln xmlns:a="http://schemas.openxmlformats.org/drawingml/2006/main" w="0">
            <a:noFill/>
          </a:ln>
        </p:spPr>
      </p:sp>
      <p:sp>
        <p:nvSpPr>
          <p:cNvPr id="9" name="Rectangle 8">
            <a:extLst xmlns:a="http://schemas.openxmlformats.org/drawingml/2006/main">
              <a:ext uri="{FF2B5EF4-FFF2-40B4-BE49-F238E27FC236}">
                <a16:creationId xmlns:a16="http://schemas.microsoft.com/office/drawing/2014/main" id="{2A604AED-771E-46E0-9A28-D7932481D4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95500"/>
            <a:ext cx="94964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0B2035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B2035"/>
                </a:solidFill>
                <a:latin typeface="Arial"/>
                <a:ea typeface="Arial"/>
                <a:cs typeface="Arial"/>
              </a:rPr>
              <a:t>PROJECT OVERVIEW</a:t>
            </a:r>
          </a:p>
        </p:txBody>
      </p:sp>
      <p:sp>
        <p:nvSpPr>
          <p:cNvPr id="10" name="Straight Connector 9">
            <a:extLst xmlns:a="http://schemas.openxmlformats.org/drawingml/2006/main">
              <a:ext uri="{FF2B5EF4-FFF2-40B4-BE49-F238E27FC236}">
                <a16:creationId xmlns:a16="http://schemas.microsoft.com/office/drawing/2014/main" id="{02873A73-6CBF-4BEB-84E5-7B72B458E0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09825"/>
            <a:ext cx="94964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CCD5DD"/>
            </a:solidFill>
            <a:prstDash val="solid"/>
          </a:ln>
        </p:spPr>
      </p:sp>
      <p:sp>
        <p:nvSpPr>
          <p:cNvPr id="11" name="Rectangle 10">
            <a:extLst xmlns:a="http://schemas.openxmlformats.org/drawingml/2006/main">
              <a:ext uri="{FF2B5EF4-FFF2-40B4-BE49-F238E27FC236}">
                <a16:creationId xmlns:a16="http://schemas.microsoft.com/office/drawing/2014/main" id="{BF6E14DC-B0EE-4789-A5B2-6E2AAB75C3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2562225"/>
            <a:ext cx="528637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9525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163" b="0">
                <a:solidFill>
                  <a:srgbClr val="243746"/>
                </a:solidFill>
                <a:latin typeface="Arial"/>
                <a:ea typeface="Arial"/>
                <a:cs typeface="Arial"/>
              </a:defRPr>
            </a:pPr>
            <a:r>
              <a:rPr sz="1163" b="0">
                <a:solidFill>
                  <a:srgbClr val="243746"/>
                </a:solidFill>
                <a:latin typeface="Arial"/>
                <a:ea typeface="Arial"/>
                <a:cs typeface="Arial"/>
              </a:rPr>
              <a:t>RefactorGraph analyzes Python source code to detect Long Method, Feature Envy, and God/Large Class. It combines static code structure, graph learning, and frozen CodeBERT embeddings to generate smell predictions with matching refactoring recommendations.</a:t>
            </a:r>
          </a:p>
        </p:txBody>
      </p:sp>
      <p:sp>
        <p:nvSpPr>
          <p:cNvPr id="12" name="Rectangle 11">
            <a:extLst xmlns:a="http://schemas.openxmlformats.org/drawingml/2006/main">
              <a:ext uri="{FF2B5EF4-FFF2-40B4-BE49-F238E27FC236}">
                <a16:creationId xmlns:a16="http://schemas.microsoft.com/office/drawing/2014/main" id="{4D18BC25-9B19-49CE-A54D-2C140436BA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62575" y="3752850"/>
            <a:ext cx="19050" cy="10782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CD5DD"/>
          </a:solidFill>
          <a:ln xmlns:a="http://schemas.openxmlformats.org/drawingml/2006/main" w="0">
            <a:noFill/>
          </a:ln>
        </p:spPr>
      </p:sp>
      <p:sp>
        <p:nvSpPr>
          <p:cNvPr id="13" name="Rectangle 12">
            <a:extLst xmlns:a="http://schemas.openxmlformats.org/drawingml/2006/main">
              <a:ext uri="{FF2B5EF4-FFF2-40B4-BE49-F238E27FC236}">
                <a16:creationId xmlns:a16="http://schemas.microsoft.com/office/drawing/2014/main" id="{C8E4A244-075D-4FCF-A6DB-D2D151D1A4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3829050"/>
            <a:ext cx="66675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A83A"/>
          </a:solidFill>
          <a:ln xmlns:a="http://schemas.openxmlformats.org/drawingml/2006/main" w="0">
            <a:noFill/>
          </a:ln>
        </p:spPr>
      </p:sp>
      <p:sp>
        <p:nvSpPr>
          <p:cNvPr id="14" name="Rectangle 13">
            <a:extLst xmlns:a="http://schemas.openxmlformats.org/drawingml/2006/main">
              <a:ext uri="{FF2B5EF4-FFF2-40B4-BE49-F238E27FC236}">
                <a16:creationId xmlns:a16="http://schemas.microsoft.com/office/drawing/2014/main" id="{4F95A937-9C67-48CF-AD5D-51207AF52A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10000"/>
            <a:ext cx="45339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0B2035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B2035"/>
                </a:solidFill>
                <a:latin typeface="Arial"/>
                <a:ea typeface="Arial"/>
                <a:cs typeface="Arial"/>
              </a:rPr>
              <a:t>OBJECTIVES</a:t>
            </a:r>
          </a:p>
        </p:txBody>
      </p:sp>
      <p:sp>
        <p:nvSpPr>
          <p:cNvPr id="15" name="Straight Connector 14">
            <a:extLst xmlns:a="http://schemas.openxmlformats.org/drawingml/2006/main">
              <a:ext uri="{FF2B5EF4-FFF2-40B4-BE49-F238E27FC236}">
                <a16:creationId xmlns:a16="http://schemas.microsoft.com/office/drawing/2014/main" id="{98AE4F35-E732-4D69-A879-FAD58648BF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24325"/>
            <a:ext cx="4533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CCD5DD"/>
            </a:solidFill>
            <a:prstDash val="solid"/>
          </a:ln>
        </p:spPr>
      </p:sp>
      <p:sp>
        <p:nvSpPr>
          <p:cNvPr id="16" name="Oval 15">
            <a:extLst xmlns:a="http://schemas.openxmlformats.org/drawingml/2006/main">
              <a:ext uri="{FF2B5EF4-FFF2-40B4-BE49-F238E27FC236}">
                <a16:creationId xmlns:a16="http://schemas.microsoft.com/office/drawing/2014/main" id="{DAA762E2-1F85-4692-9462-99183E69F5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4324350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7A83A"/>
          </a:solidFill>
          <a:ln xmlns:a="http://schemas.openxmlformats.org/drawingml/2006/main" w="0">
            <a:noFill/>
          </a:ln>
        </p:spPr>
      </p:sp>
      <p:sp>
        <p:nvSpPr>
          <p:cNvPr id="17" name="Rectangle 16">
            <a:extLst xmlns:a="http://schemas.openxmlformats.org/drawingml/2006/main">
              <a:ext uri="{FF2B5EF4-FFF2-40B4-BE49-F238E27FC236}">
                <a16:creationId xmlns:a16="http://schemas.microsoft.com/office/drawing/2014/main" id="{046878F8-5241-41B6-89B1-590B2A5D3B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" y="4257675"/>
            <a:ext cx="454342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0">
                <a:solidFill>
                  <a:srgbClr val="142333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42333"/>
                </a:solidFill>
                <a:latin typeface="Arial"/>
                <a:ea typeface="Arial"/>
                <a:cs typeface="Arial"/>
              </a:rPr>
              <a:t>Detect maintainability code smells automatically in Python programs.</a:t>
            </a:r>
          </a:p>
        </p:txBody>
      </p:sp>
      <p:sp>
        <p:nvSpPr>
          <p:cNvPr id="18" name="Oval 17">
            <a:extLst xmlns:a="http://schemas.openxmlformats.org/drawingml/2006/main">
              <a:ext uri="{FF2B5EF4-FFF2-40B4-BE49-F238E27FC236}">
                <a16:creationId xmlns:a16="http://schemas.microsoft.com/office/drawing/2014/main" id="{367F2D35-D786-4377-893C-177D37F810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4810125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7A83A"/>
          </a:solidFill>
          <a:ln xmlns:a="http://schemas.openxmlformats.org/drawingml/2006/main" w="0">
            <a:noFill/>
          </a:ln>
        </p:spPr>
      </p:sp>
      <p:sp>
        <p:nvSpPr>
          <p:cNvPr id="19" name="Rectangle 18">
            <a:extLst xmlns:a="http://schemas.openxmlformats.org/drawingml/2006/main">
              <a:ext uri="{FF2B5EF4-FFF2-40B4-BE49-F238E27FC236}">
                <a16:creationId xmlns:a16="http://schemas.microsoft.com/office/drawing/2014/main" id="{72265139-8F27-4574-82F6-CD031EF409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" y="4743450"/>
            <a:ext cx="454342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0">
                <a:solidFill>
                  <a:srgbClr val="142333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42333"/>
                </a:solidFill>
                <a:latin typeface="Arial"/>
                <a:ea typeface="Arial"/>
                <a:cs typeface="Arial"/>
              </a:rPr>
              <a:t>Represent code entities and their relationships as a graph.</a:t>
            </a:r>
          </a:p>
        </p:txBody>
      </p:sp>
      <p:sp>
        <p:nvSpPr>
          <p:cNvPr id="20" name="Oval 19">
            <a:extLst xmlns:a="http://schemas.openxmlformats.org/drawingml/2006/main">
              <a:ext uri="{FF2B5EF4-FFF2-40B4-BE49-F238E27FC236}">
                <a16:creationId xmlns:a16="http://schemas.microsoft.com/office/drawing/2014/main" id="{A061101D-8421-4344-B985-EA3E6A5695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5295900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7A83A"/>
          </a:solidFill>
          <a:ln xmlns:a="http://schemas.openxmlformats.org/drawingml/2006/main" w="0">
            <a:noFill/>
          </a:ln>
        </p:spPr>
      </p:sp>
      <p:sp>
        <p:nvSpPr>
          <p:cNvPr id="21" name="Rectangle 20">
            <a:extLst xmlns:a="http://schemas.openxmlformats.org/drawingml/2006/main">
              <a:ext uri="{FF2B5EF4-FFF2-40B4-BE49-F238E27FC236}">
                <a16:creationId xmlns:a16="http://schemas.microsoft.com/office/drawing/2014/main" id="{C7F8A6C6-64A4-4158-B414-2B300399F0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" y="5229225"/>
            <a:ext cx="454342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0">
                <a:solidFill>
                  <a:srgbClr val="142333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42333"/>
                </a:solidFill>
                <a:latin typeface="Arial"/>
                <a:ea typeface="Arial"/>
                <a:cs typeface="Arial"/>
              </a:rPr>
              <a:t>Fuse structural software metrics with frozen CodeBERT semantic context.</a:t>
            </a:r>
          </a:p>
        </p:txBody>
      </p:sp>
      <p:sp>
        <p:nvSpPr>
          <p:cNvPr id="22" name="Oval 21">
            <a:extLst xmlns:a="http://schemas.openxmlformats.org/drawingml/2006/main">
              <a:ext uri="{FF2B5EF4-FFF2-40B4-BE49-F238E27FC236}">
                <a16:creationId xmlns:a16="http://schemas.microsoft.com/office/drawing/2014/main" id="{2AA4E6E3-C526-4176-A9A2-0189F4EBDE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5800725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7A83A"/>
          </a:solidFill>
          <a:ln xmlns:a="http://schemas.openxmlformats.org/drawingml/2006/main" w="0">
            <a:noFill/>
          </a:ln>
        </p:spPr>
      </p:sp>
      <p:sp>
        <p:nvSpPr>
          <p:cNvPr id="23" name="Rectangle 22">
            <a:extLst xmlns:a="http://schemas.openxmlformats.org/drawingml/2006/main">
              <a:ext uri="{FF2B5EF4-FFF2-40B4-BE49-F238E27FC236}">
                <a16:creationId xmlns:a16="http://schemas.microsoft.com/office/drawing/2014/main" id="{A7404624-157C-4BA7-AE8C-F2F17EFE17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" y="5734050"/>
            <a:ext cx="454342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0">
                <a:solidFill>
                  <a:srgbClr val="142333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42333"/>
                </a:solidFill>
                <a:latin typeface="Arial"/>
                <a:ea typeface="Arial"/>
                <a:cs typeface="Arial"/>
              </a:rPr>
              <a:t>Provide refactoring recommendations through a usable backend API and frontend interface.</a:t>
            </a:r>
          </a:p>
        </p:txBody>
      </p:sp>
      <p:sp>
        <p:nvSpPr>
          <p:cNvPr id="24" name="Rectangle 23">
            <a:extLst xmlns:a="http://schemas.openxmlformats.org/drawingml/2006/main">
              <a:ext uri="{FF2B5EF4-FFF2-40B4-BE49-F238E27FC236}">
                <a16:creationId xmlns:a16="http://schemas.microsoft.com/office/drawing/2014/main" id="{5B8FB7E5-EB0B-45F9-85A6-3CE2C7E724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6448425"/>
            <a:ext cx="66675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9C95"/>
          </a:solidFill>
          <a:ln xmlns:a="http://schemas.openxmlformats.org/drawingml/2006/main" w="0">
            <a:noFill/>
          </a:ln>
        </p:spPr>
      </p:sp>
      <p:sp>
        <p:nvSpPr>
          <p:cNvPr id="25" name="Rectangle 24">
            <a:extLst xmlns:a="http://schemas.openxmlformats.org/drawingml/2006/main">
              <a:ext uri="{FF2B5EF4-FFF2-40B4-BE49-F238E27FC236}">
                <a16:creationId xmlns:a16="http://schemas.microsoft.com/office/drawing/2014/main" id="{4B6DD923-2E84-4DA9-AC21-A1F29D0DBB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29375"/>
            <a:ext cx="45339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0B2035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B2035"/>
                </a:solidFill>
                <a:latin typeface="Arial"/>
                <a:ea typeface="Arial"/>
                <a:cs typeface="Arial"/>
              </a:rPr>
              <a:t>SMELLS AND RECOMMENDATIONS</a:t>
            </a:r>
          </a:p>
        </p:txBody>
      </p:sp>
      <p:sp>
        <p:nvSpPr>
          <p:cNvPr id="26" name="Straight Connector 25">
            <a:extLst xmlns:a="http://schemas.openxmlformats.org/drawingml/2006/main">
              <a:ext uri="{FF2B5EF4-FFF2-40B4-BE49-F238E27FC236}">
                <a16:creationId xmlns:a16="http://schemas.microsoft.com/office/drawing/2014/main" id="{3E81E26E-E5E8-4056-8A91-5D220E5ED8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743700"/>
            <a:ext cx="4533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CCD5DD"/>
            </a:solidFill>
            <a:prstDash val="solid"/>
          </a:ln>
        </p:spPr>
      </p:sp>
      <p:sp>
        <p:nvSpPr>
          <p:cNvPr id="27" name="Rectangle 26">
            <a:extLst xmlns:a="http://schemas.openxmlformats.org/drawingml/2006/main">
              <a:ext uri="{FF2B5EF4-FFF2-40B4-BE49-F238E27FC236}">
                <a16:creationId xmlns:a16="http://schemas.microsoft.com/office/drawing/2014/main" id="{7450CB3C-90BE-4F7B-A3C5-789A13DC19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6915150"/>
            <a:ext cx="76200" cy="295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6FB6"/>
          </a:solidFill>
          <a:ln xmlns:a="http://schemas.openxmlformats.org/drawingml/2006/main" w="0">
            <a:noFill/>
          </a:ln>
        </p:spPr>
      </p:sp>
      <p:sp>
        <p:nvSpPr>
          <p:cNvPr id="28" name="Rectangle 27">
            <a:extLst xmlns:a="http://schemas.openxmlformats.org/drawingml/2006/main">
              <a:ext uri="{FF2B5EF4-FFF2-40B4-BE49-F238E27FC236}">
                <a16:creationId xmlns:a16="http://schemas.microsoft.com/office/drawing/2014/main" id="{AADBCE94-1AA6-4C9A-A05D-27BF484C0C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6896100"/>
            <a:ext cx="23336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1">
                <a:solidFill>
                  <a:srgbClr val="0B2035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0B2035"/>
                </a:solidFill>
                <a:latin typeface="Arial"/>
                <a:ea typeface="Arial"/>
                <a:cs typeface="Arial"/>
              </a:rPr>
              <a:t>LONG METHOD</a:t>
            </a:r>
          </a:p>
        </p:txBody>
      </p:sp>
      <p:sp>
        <p:nvSpPr>
          <p:cNvPr id="29" name="Rectangle 28">
            <a:extLst xmlns:a="http://schemas.openxmlformats.org/drawingml/2006/main">
              <a:ext uri="{FF2B5EF4-FFF2-40B4-BE49-F238E27FC236}">
                <a16:creationId xmlns:a16="http://schemas.microsoft.com/office/drawing/2014/main" id="{759203B2-803C-40AC-9C40-2FB5E2F993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71825" y="6896100"/>
            <a:ext cx="19240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125" b="1">
                <a:solidFill>
                  <a:srgbClr val="3D6FB6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3D6FB6"/>
                </a:solidFill>
                <a:latin typeface="Arial"/>
                <a:ea typeface="Arial"/>
                <a:cs typeface="Arial"/>
              </a:rPr>
              <a:t>Extract Method</a:t>
            </a:r>
          </a:p>
        </p:txBody>
      </p:sp>
      <p:sp>
        <p:nvSpPr>
          <p:cNvPr id="30" name="Straight Connector 29">
            <a:extLst xmlns:a="http://schemas.openxmlformats.org/drawingml/2006/main">
              <a:ext uri="{FF2B5EF4-FFF2-40B4-BE49-F238E27FC236}">
                <a16:creationId xmlns:a16="http://schemas.microsoft.com/office/drawing/2014/main" id="{6E69F01F-35FD-4362-B10D-A466F0259C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7229475"/>
            <a:ext cx="44005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CD5DD"/>
            </a:solidFill>
            <a:prstDash val="solid"/>
          </a:ln>
        </p:spPr>
      </p:sp>
      <p:sp>
        <p:nvSpPr>
          <p:cNvPr id="31" name="Rectangle 30">
            <a:extLst xmlns:a="http://schemas.openxmlformats.org/drawingml/2006/main">
              <a:ext uri="{FF2B5EF4-FFF2-40B4-BE49-F238E27FC236}">
                <a16:creationId xmlns:a16="http://schemas.microsoft.com/office/drawing/2014/main" id="{F3CA6EE0-D58A-4AA2-B030-6E4E6585C0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7362825"/>
            <a:ext cx="76200" cy="295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9C95"/>
          </a:solidFill>
          <a:ln xmlns:a="http://schemas.openxmlformats.org/drawingml/2006/main" w="0">
            <a:noFill/>
          </a:ln>
        </p:spPr>
      </p:sp>
      <p:sp>
        <p:nvSpPr>
          <p:cNvPr id="32" name="Rectangle 31">
            <a:extLst xmlns:a="http://schemas.openxmlformats.org/drawingml/2006/main">
              <a:ext uri="{FF2B5EF4-FFF2-40B4-BE49-F238E27FC236}">
                <a16:creationId xmlns:a16="http://schemas.microsoft.com/office/drawing/2014/main" id="{D39D04A3-1B7D-47F0-B56A-9CCE4506EA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7343775"/>
            <a:ext cx="23336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1">
                <a:solidFill>
                  <a:srgbClr val="0B2035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0B2035"/>
                </a:solidFill>
                <a:latin typeface="Arial"/>
                <a:ea typeface="Arial"/>
                <a:cs typeface="Arial"/>
              </a:rPr>
              <a:t>FEATURE ENVY</a:t>
            </a:r>
          </a:p>
        </p:txBody>
      </p:sp>
      <p:sp>
        <p:nvSpPr>
          <p:cNvPr id="33" name="Rectangle 32">
            <a:extLst xmlns:a="http://schemas.openxmlformats.org/drawingml/2006/main">
              <a:ext uri="{FF2B5EF4-FFF2-40B4-BE49-F238E27FC236}">
                <a16:creationId xmlns:a16="http://schemas.microsoft.com/office/drawing/2014/main" id="{083D0969-D328-4E9B-BF4B-C538B66E79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71825" y="7343775"/>
            <a:ext cx="19240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125" b="1">
                <a:solidFill>
                  <a:srgbClr val="119C95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119C95"/>
                </a:solidFill>
                <a:latin typeface="Arial"/>
                <a:ea typeface="Arial"/>
                <a:cs typeface="Arial"/>
              </a:rPr>
              <a:t>Move Method</a:t>
            </a:r>
          </a:p>
        </p:txBody>
      </p:sp>
      <p:sp>
        <p:nvSpPr>
          <p:cNvPr id="34" name="Straight Connector 33">
            <a:extLst xmlns:a="http://schemas.openxmlformats.org/drawingml/2006/main">
              <a:ext uri="{FF2B5EF4-FFF2-40B4-BE49-F238E27FC236}">
                <a16:creationId xmlns:a16="http://schemas.microsoft.com/office/drawing/2014/main" id="{E1CE5B64-5BE8-4593-BAC0-E02CCB849B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7677150"/>
            <a:ext cx="44005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CD5DD"/>
            </a:solidFill>
            <a:prstDash val="solid"/>
          </a:ln>
        </p:spPr>
      </p:sp>
      <p:sp>
        <p:nvSpPr>
          <p:cNvPr id="35" name="Rectangle 34">
            <a:extLst xmlns:a="http://schemas.openxmlformats.org/drawingml/2006/main">
              <a:ext uri="{FF2B5EF4-FFF2-40B4-BE49-F238E27FC236}">
                <a16:creationId xmlns:a16="http://schemas.microsoft.com/office/drawing/2014/main" id="{6D1AFDE3-56EB-4BF6-9662-CC6D59D28F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7810500"/>
            <a:ext cx="76200" cy="295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6755"/>
          </a:solidFill>
          <a:ln xmlns:a="http://schemas.openxmlformats.org/drawingml/2006/main" w="0">
            <a:noFill/>
          </a:ln>
        </p:spPr>
      </p:sp>
      <p:sp>
        <p:nvSpPr>
          <p:cNvPr id="36" name="Rectangle 35">
            <a:extLst xmlns:a="http://schemas.openxmlformats.org/drawingml/2006/main">
              <a:ext uri="{FF2B5EF4-FFF2-40B4-BE49-F238E27FC236}">
                <a16:creationId xmlns:a16="http://schemas.microsoft.com/office/drawing/2014/main" id="{BFDC3E3D-4B26-4EEB-8CF6-798DD33A13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7791450"/>
            <a:ext cx="23336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1">
                <a:solidFill>
                  <a:srgbClr val="0B2035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0B2035"/>
                </a:solidFill>
                <a:latin typeface="Arial"/>
                <a:ea typeface="Arial"/>
                <a:cs typeface="Arial"/>
              </a:rPr>
              <a:t>GOD / LARGE CLASS</a:t>
            </a:r>
          </a:p>
        </p:txBody>
      </p:sp>
      <p:sp>
        <p:nvSpPr>
          <p:cNvPr id="37" name="Rectangle 36">
            <a:extLst xmlns:a="http://schemas.openxmlformats.org/drawingml/2006/main">
              <a:ext uri="{FF2B5EF4-FFF2-40B4-BE49-F238E27FC236}">
                <a16:creationId xmlns:a16="http://schemas.microsoft.com/office/drawing/2014/main" id="{0248D352-25DD-4AEF-912E-28788B7ECF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71825" y="7791450"/>
            <a:ext cx="19240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125" b="1">
                <a:solidFill>
                  <a:srgbClr val="D96755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D96755"/>
                </a:solidFill>
                <a:latin typeface="Arial"/>
                <a:ea typeface="Arial"/>
                <a:cs typeface="Arial"/>
              </a:rPr>
              <a:t>Split Class</a:t>
            </a:r>
          </a:p>
        </p:txBody>
      </p:sp>
      <p:sp>
        <p:nvSpPr>
          <p:cNvPr id="38" name="Straight Connector 37">
            <a:extLst xmlns:a="http://schemas.openxmlformats.org/drawingml/2006/main">
              <a:ext uri="{FF2B5EF4-FFF2-40B4-BE49-F238E27FC236}">
                <a16:creationId xmlns:a16="http://schemas.microsoft.com/office/drawing/2014/main" id="{430A794F-20EA-4C82-8553-F23C31DA1B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8124825"/>
            <a:ext cx="44005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CD5DD"/>
            </a:solidFill>
            <a:prstDash val="solid"/>
          </a:ln>
        </p:spPr>
      </p:sp>
      <p:sp>
        <p:nvSpPr>
          <p:cNvPr id="39" name="Rectangle 38">
            <a:extLst xmlns:a="http://schemas.openxmlformats.org/drawingml/2006/main">
              <a:ext uri="{FF2B5EF4-FFF2-40B4-BE49-F238E27FC236}">
                <a16:creationId xmlns:a16="http://schemas.microsoft.com/office/drawing/2014/main" id="{99D1B020-1001-4F54-B8EE-5166831681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8439150"/>
            <a:ext cx="66675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9C95"/>
          </a:solidFill>
          <a:ln xmlns:a="http://schemas.openxmlformats.org/drawingml/2006/main" w="0">
            <a:noFill/>
          </a:ln>
        </p:spPr>
      </p:sp>
      <p:sp>
        <p:nvSpPr>
          <p:cNvPr id="40" name="Rectangle 39">
            <a:extLst xmlns:a="http://schemas.openxmlformats.org/drawingml/2006/main">
              <a:ext uri="{FF2B5EF4-FFF2-40B4-BE49-F238E27FC236}">
                <a16:creationId xmlns:a16="http://schemas.microsoft.com/office/drawing/2014/main" id="{6632A833-133E-4090-B75D-1721461CE8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420100"/>
            <a:ext cx="45339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0B2035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B2035"/>
                </a:solidFill>
                <a:latin typeface="Arial"/>
                <a:ea typeface="Arial"/>
                <a:cs typeface="Arial"/>
              </a:rPr>
              <a:t>END-TO-END SYSTEM</a:t>
            </a:r>
          </a:p>
        </p:txBody>
      </p:sp>
      <p:sp>
        <p:nvSpPr>
          <p:cNvPr id="41" name="Straight Connector 40">
            <a:extLst xmlns:a="http://schemas.openxmlformats.org/drawingml/2006/main">
              <a:ext uri="{FF2B5EF4-FFF2-40B4-BE49-F238E27FC236}">
                <a16:creationId xmlns:a16="http://schemas.microsoft.com/office/drawing/2014/main" id="{5EAF4B91-504D-4AE0-BBBE-86617E94F5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734425"/>
            <a:ext cx="4533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CCD5DD"/>
            </a:solidFill>
            <a:prstDash val="solid"/>
          </a:ln>
        </p:spPr>
      </p:sp>
      <p:sp>
        <p:nvSpPr>
          <p:cNvPr id="42" name="Rectangle: Rounded Corners 41">
            <a:extLst xmlns:a="http://schemas.openxmlformats.org/drawingml/2006/main">
              <a:ext uri="{FF2B5EF4-FFF2-40B4-BE49-F238E27FC236}">
                <a16:creationId xmlns:a16="http://schemas.microsoft.com/office/drawing/2014/main" id="{DDAFCF82-CC50-45E2-8EEA-8C60AC35D9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8848725"/>
            <a:ext cx="3362325" cy="323850"/>
          </a:xfrm>
          <a:prstGeom xmlns:a="http://schemas.openxmlformats.org/drawingml/2006/main" prst="roundRect">
            <a:avLst>
              <a:gd name="adj" fmla="val 1764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CCD5DD"/>
            </a:solidFill>
            <a:prstDash val="solid"/>
          </a:ln>
        </p:spPr>
        <p:txBody>
          <a:bodyPr xmlns:a="http://schemas.openxmlformats.org/drawingml/2006/main" lIns="76200" tIns="19050" rIns="76200" bIns="1905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088" b="1">
                <a:solidFill>
                  <a:srgbClr val="0B2035"/>
                </a:solidFill>
                <a:latin typeface="Arial"/>
                <a:ea typeface="Arial"/>
                <a:cs typeface="Arial"/>
              </a:defRPr>
            </a:pPr>
            <a:r>
              <a:rPr sz="1088" b="1">
                <a:solidFill>
                  <a:srgbClr val="0B2035"/>
                </a:solidFill>
                <a:latin typeface="Arial"/>
                <a:ea typeface="Arial"/>
                <a:cs typeface="Arial"/>
              </a:rPr>
              <a:t>1. Python source code</a:t>
            </a:r>
          </a:p>
        </p:txBody>
      </p:sp>
      <p:sp>
        <p:nvSpPr>
          <p:cNvPr id="43" name="Rectangle: Rounded Corners 42">
            <a:extLst xmlns:a="http://schemas.openxmlformats.org/drawingml/2006/main">
              <a:ext uri="{FF2B5EF4-FFF2-40B4-BE49-F238E27FC236}">
                <a16:creationId xmlns:a16="http://schemas.microsoft.com/office/drawing/2014/main" id="{3A10A8E7-5AEC-47B2-8D04-A9157E3433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9305925"/>
            <a:ext cx="3362325" cy="323850"/>
          </a:xfrm>
          <a:prstGeom xmlns:a="http://schemas.openxmlformats.org/drawingml/2006/main" prst="roundRect">
            <a:avLst>
              <a:gd name="adj" fmla="val 1764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CCD5DD"/>
            </a:solidFill>
            <a:prstDash val="solid"/>
          </a:ln>
        </p:spPr>
        <p:txBody>
          <a:bodyPr xmlns:a="http://schemas.openxmlformats.org/drawingml/2006/main" lIns="76200" tIns="19050" rIns="76200" bIns="1905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088" b="1">
                <a:solidFill>
                  <a:srgbClr val="0B2035"/>
                </a:solidFill>
                <a:latin typeface="Arial"/>
                <a:ea typeface="Arial"/>
                <a:cs typeface="Arial"/>
              </a:defRPr>
            </a:pPr>
            <a:r>
              <a:rPr sz="1088" b="1">
                <a:solidFill>
                  <a:srgbClr val="0B2035"/>
                </a:solidFill>
                <a:latin typeface="Arial"/>
                <a:ea typeface="Arial"/>
                <a:cs typeface="Arial"/>
              </a:rPr>
              <a:t>2. AST parsing</a:t>
            </a:r>
          </a:p>
        </p:txBody>
      </p:sp>
      <p:cxnSp>
        <p:nvCxnSpPr>
          <p:cNvPr id="237" name="Straight Arrow Connector 153"/>
          <p:cNvCxnSpPr>
            <a:stCxn xmlns:a="http://schemas.openxmlformats.org/drawingml/2006/main" id="42" idx="2"/>
            <a:endCxn xmlns:a="http://schemas.openxmlformats.org/drawingml/2006/main" id="43" idx="0"/>
          </p:cNvCxnSpPr>
          <p:nvPr/>
        </p:nvCxnSpPr>
        <p:spPr>
          <a:xfrm xmlns:a="http://schemas.openxmlformats.org/drawingml/2006/main">
            <a:off x="2871788" y="9172575"/>
            <a:ext cx="0" cy="133350"/>
          </a:xfrm>
          <a:prstGeom xmlns:a="http://schemas.openxmlformats.org/drawingml/2006/main" prst="straightConnector1">
            <a:avLst/>
          </a:prstGeom>
          <a:ln xmlns:a="http://schemas.openxmlformats.org/drawingml/2006/main" w="11430">
            <a:solidFill>
              <a:srgbClr val="526273"/>
            </a:solidFill>
            <a:prstDash val="solid"/>
            <a:tailEnd type="arrow" w="sm" len="sm"/>
          </a:ln>
        </p:spPr>
      </p:cxnSp>
      <p:sp>
        <p:nvSpPr>
          <p:cNvPr id="45" name="Rectangle: Rounded Corners 44">
            <a:extLst xmlns:a="http://schemas.openxmlformats.org/drawingml/2006/main">
              <a:ext uri="{FF2B5EF4-FFF2-40B4-BE49-F238E27FC236}">
                <a16:creationId xmlns:a16="http://schemas.microsoft.com/office/drawing/2014/main" id="{0373D120-CBFC-4C68-AD19-426314568B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9763125"/>
            <a:ext cx="3362325" cy="323850"/>
          </a:xfrm>
          <a:prstGeom xmlns:a="http://schemas.openxmlformats.org/drawingml/2006/main" prst="roundRect">
            <a:avLst>
              <a:gd name="adj" fmla="val 17647"/>
            </a:avLst>
          </a:prstGeom>
          <a:solidFill xmlns:a="http://schemas.openxmlformats.org/drawingml/2006/main">
            <a:srgbClr val="DDF3F1"/>
          </a:solidFill>
          <a:ln xmlns:a="http://schemas.openxmlformats.org/drawingml/2006/main" w="11430">
            <a:solidFill>
              <a:srgbClr val="119C95"/>
            </a:solidFill>
            <a:prstDash val="solid"/>
          </a:ln>
        </p:spPr>
        <p:txBody>
          <a:bodyPr xmlns:a="http://schemas.openxmlformats.org/drawingml/2006/main" lIns="76200" tIns="19050" rIns="76200" bIns="1905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088" b="1">
                <a:solidFill>
                  <a:srgbClr val="0B2035"/>
                </a:solidFill>
                <a:latin typeface="Arial"/>
                <a:ea typeface="Arial"/>
                <a:cs typeface="Arial"/>
              </a:defRPr>
            </a:pPr>
            <a:r>
              <a:rPr sz="1088" b="1">
                <a:solidFill>
                  <a:srgbClr val="0B2035"/>
                </a:solidFill>
                <a:latin typeface="Arial"/>
                <a:ea typeface="Arial"/>
                <a:cs typeface="Arial"/>
              </a:rPr>
              <a:t>3. Heterogeneous code graph</a:t>
            </a:r>
          </a:p>
        </p:txBody>
      </p:sp>
      <p:cxnSp>
        <p:nvCxnSpPr>
          <p:cNvPr id="239" name="Straight Arrow Connector 155"/>
          <p:cNvCxnSpPr>
            <a:stCxn xmlns:a="http://schemas.openxmlformats.org/drawingml/2006/main" id="43" idx="2"/>
            <a:endCxn xmlns:a="http://schemas.openxmlformats.org/drawingml/2006/main" id="45" idx="0"/>
          </p:cNvCxnSpPr>
          <p:nvPr/>
        </p:nvCxnSpPr>
        <p:spPr>
          <a:xfrm xmlns:a="http://schemas.openxmlformats.org/drawingml/2006/main">
            <a:off x="2871788" y="9629775"/>
            <a:ext cx="0" cy="133350"/>
          </a:xfrm>
          <a:prstGeom xmlns:a="http://schemas.openxmlformats.org/drawingml/2006/main" prst="straightConnector1">
            <a:avLst/>
          </a:prstGeom>
          <a:ln xmlns:a="http://schemas.openxmlformats.org/drawingml/2006/main" w="11430">
            <a:solidFill>
              <a:srgbClr val="526273"/>
            </a:solidFill>
            <a:prstDash val="solid"/>
            <a:tailEnd type="arrow" w="sm" len="sm"/>
          </a:ln>
        </p:spPr>
      </p:cxnSp>
      <p:sp>
        <p:nvSpPr>
          <p:cNvPr id="47" name="Rectangle: Rounded Corners 46">
            <a:extLst xmlns:a="http://schemas.openxmlformats.org/drawingml/2006/main">
              <a:ext uri="{FF2B5EF4-FFF2-40B4-BE49-F238E27FC236}">
                <a16:creationId xmlns:a16="http://schemas.microsoft.com/office/drawing/2014/main" id="{CD190019-F4FA-4F4A-9E32-9C5B46755C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10220325"/>
            <a:ext cx="3362325" cy="323850"/>
          </a:xfrm>
          <a:prstGeom xmlns:a="http://schemas.openxmlformats.org/drawingml/2006/main" prst="roundRect">
            <a:avLst>
              <a:gd name="adj" fmla="val 1764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CCD5DD"/>
            </a:solidFill>
            <a:prstDash val="solid"/>
          </a:ln>
        </p:spPr>
        <p:txBody>
          <a:bodyPr xmlns:a="http://schemas.openxmlformats.org/drawingml/2006/main" lIns="76200" tIns="19050" rIns="76200" bIns="1905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088" b="1">
                <a:solidFill>
                  <a:srgbClr val="0B2035"/>
                </a:solidFill>
                <a:latin typeface="Arial"/>
                <a:ea typeface="Arial"/>
                <a:cs typeface="Arial"/>
              </a:defRPr>
            </a:pPr>
            <a:r>
              <a:rPr sz="1088" b="1">
                <a:solidFill>
                  <a:srgbClr val="0B2035"/>
                </a:solidFill>
                <a:latin typeface="Arial"/>
                <a:ea typeface="Arial"/>
                <a:cs typeface="Arial"/>
              </a:rPr>
              <a:t>4. Structural feature extraction</a:t>
            </a:r>
          </a:p>
        </p:txBody>
      </p:sp>
      <p:cxnSp>
        <p:nvCxnSpPr>
          <p:cNvPr id="241" name="Straight Arrow Connector 157"/>
          <p:cNvCxnSpPr>
            <a:stCxn xmlns:a="http://schemas.openxmlformats.org/drawingml/2006/main" id="45" idx="2"/>
            <a:endCxn xmlns:a="http://schemas.openxmlformats.org/drawingml/2006/main" id="47" idx="0"/>
          </p:cNvCxnSpPr>
          <p:nvPr/>
        </p:nvCxnSpPr>
        <p:spPr>
          <a:xfrm xmlns:a="http://schemas.openxmlformats.org/drawingml/2006/main">
            <a:off x="2871788" y="10086975"/>
            <a:ext cx="0" cy="133350"/>
          </a:xfrm>
          <a:prstGeom xmlns:a="http://schemas.openxmlformats.org/drawingml/2006/main" prst="straightConnector1">
            <a:avLst/>
          </a:prstGeom>
          <a:ln xmlns:a="http://schemas.openxmlformats.org/drawingml/2006/main" w="11430">
            <a:solidFill>
              <a:srgbClr val="526273"/>
            </a:solidFill>
            <a:prstDash val="solid"/>
            <a:tailEnd type="arrow" w="sm" len="sm"/>
          </a:ln>
        </p:spPr>
      </p:cxnSp>
      <p:sp>
        <p:nvSpPr>
          <p:cNvPr id="49" name="Rectangle: Rounded Corners 48">
            <a:extLst xmlns:a="http://schemas.openxmlformats.org/drawingml/2006/main">
              <a:ext uri="{FF2B5EF4-FFF2-40B4-BE49-F238E27FC236}">
                <a16:creationId xmlns:a16="http://schemas.microsoft.com/office/drawing/2014/main" id="{054670AC-420C-4538-AAEE-496D799A45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10677525"/>
            <a:ext cx="3362325" cy="323850"/>
          </a:xfrm>
          <a:prstGeom xmlns:a="http://schemas.openxmlformats.org/drawingml/2006/main" prst="roundRect">
            <a:avLst>
              <a:gd name="adj" fmla="val 1764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CCD5DD"/>
            </a:solidFill>
            <a:prstDash val="solid"/>
          </a:ln>
        </p:spPr>
        <p:txBody>
          <a:bodyPr xmlns:a="http://schemas.openxmlformats.org/drawingml/2006/main" lIns="76200" tIns="19050" rIns="76200" bIns="1905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088" b="1">
                <a:solidFill>
                  <a:srgbClr val="0B2035"/>
                </a:solidFill>
                <a:latin typeface="Arial"/>
                <a:ea typeface="Arial"/>
                <a:cs typeface="Arial"/>
              </a:defRPr>
            </a:pPr>
            <a:r>
              <a:rPr sz="1088" b="1">
                <a:solidFill>
                  <a:srgbClr val="0B2035"/>
                </a:solidFill>
                <a:latin typeface="Arial"/>
                <a:ea typeface="Arial"/>
                <a:cs typeface="Arial"/>
              </a:rPr>
              <a:t>5. CodeBERT embedding fusion</a:t>
            </a:r>
          </a:p>
        </p:txBody>
      </p:sp>
      <p:cxnSp>
        <p:nvCxnSpPr>
          <p:cNvPr id="243" name="Straight Arrow Connector 159"/>
          <p:cNvCxnSpPr>
            <a:stCxn xmlns:a="http://schemas.openxmlformats.org/drawingml/2006/main" id="47" idx="2"/>
            <a:endCxn xmlns:a="http://schemas.openxmlformats.org/drawingml/2006/main" id="49" idx="0"/>
          </p:cNvCxnSpPr>
          <p:nvPr/>
        </p:nvCxnSpPr>
        <p:spPr>
          <a:xfrm xmlns:a="http://schemas.openxmlformats.org/drawingml/2006/main">
            <a:off x="2871788" y="10544175"/>
            <a:ext cx="0" cy="133350"/>
          </a:xfrm>
          <a:prstGeom xmlns:a="http://schemas.openxmlformats.org/drawingml/2006/main" prst="straightConnector1">
            <a:avLst/>
          </a:prstGeom>
          <a:ln xmlns:a="http://schemas.openxmlformats.org/drawingml/2006/main" w="11430">
            <a:solidFill>
              <a:srgbClr val="526273"/>
            </a:solidFill>
            <a:prstDash val="solid"/>
            <a:tailEnd type="arrow" w="sm" len="sm"/>
          </a:ln>
        </p:spPr>
      </p:cxnSp>
      <p:sp>
        <p:nvSpPr>
          <p:cNvPr id="51" name="Rectangle: Rounded Corners 50">
            <a:extLst xmlns:a="http://schemas.openxmlformats.org/drawingml/2006/main">
              <a:ext uri="{FF2B5EF4-FFF2-40B4-BE49-F238E27FC236}">
                <a16:creationId xmlns:a16="http://schemas.microsoft.com/office/drawing/2014/main" id="{9D724C50-19AC-400E-899E-BE8E5D0EA7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11134725"/>
            <a:ext cx="3362325" cy="323850"/>
          </a:xfrm>
          <a:prstGeom xmlns:a="http://schemas.openxmlformats.org/drawingml/2006/main" prst="roundRect">
            <a:avLst>
              <a:gd name="adj" fmla="val 17647"/>
            </a:avLst>
          </a:prstGeom>
          <a:solidFill xmlns:a="http://schemas.openxmlformats.org/drawingml/2006/main">
            <a:srgbClr val="FFF1D5"/>
          </a:solidFill>
          <a:ln xmlns:a="http://schemas.openxmlformats.org/drawingml/2006/main" w="11430">
            <a:solidFill>
              <a:srgbClr val="E7A83A"/>
            </a:solidFill>
            <a:prstDash val="solid"/>
          </a:ln>
        </p:spPr>
        <p:txBody>
          <a:bodyPr xmlns:a="http://schemas.openxmlformats.org/drawingml/2006/main" lIns="76200" tIns="19050" rIns="76200" bIns="1905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088" b="1">
                <a:solidFill>
                  <a:srgbClr val="0B2035"/>
                </a:solidFill>
                <a:latin typeface="Arial"/>
                <a:ea typeface="Arial"/>
                <a:cs typeface="Arial"/>
              </a:defRPr>
            </a:pPr>
            <a:r>
              <a:rPr sz="1088" b="1">
                <a:solidFill>
                  <a:srgbClr val="0B2035"/>
                </a:solidFill>
                <a:latin typeface="Arial"/>
                <a:ea typeface="Arial"/>
                <a:cs typeface="Arial"/>
              </a:rPr>
              <a:t>6. 2-layer HeteroGAT model</a:t>
            </a:r>
          </a:p>
        </p:txBody>
      </p:sp>
      <p:cxnSp>
        <p:nvCxnSpPr>
          <p:cNvPr id="245" name="Straight Arrow Connector 161"/>
          <p:cNvCxnSpPr>
            <a:stCxn xmlns:a="http://schemas.openxmlformats.org/drawingml/2006/main" id="49" idx="2"/>
            <a:endCxn xmlns:a="http://schemas.openxmlformats.org/drawingml/2006/main" id="51" idx="0"/>
          </p:cNvCxnSpPr>
          <p:nvPr/>
        </p:nvCxnSpPr>
        <p:spPr>
          <a:xfrm xmlns:a="http://schemas.openxmlformats.org/drawingml/2006/main">
            <a:off x="2871788" y="11001375"/>
            <a:ext cx="0" cy="133350"/>
          </a:xfrm>
          <a:prstGeom xmlns:a="http://schemas.openxmlformats.org/drawingml/2006/main" prst="straightConnector1">
            <a:avLst/>
          </a:prstGeom>
          <a:ln xmlns:a="http://schemas.openxmlformats.org/drawingml/2006/main" w="11430">
            <a:solidFill>
              <a:srgbClr val="526273"/>
            </a:solidFill>
            <a:prstDash val="solid"/>
            <a:tailEnd type="arrow" w="sm" len="sm"/>
          </a:ln>
        </p:spPr>
      </p:cxnSp>
      <p:sp>
        <p:nvSpPr>
          <p:cNvPr id="53" name="Rectangle: Rounded Corners 52">
            <a:extLst xmlns:a="http://schemas.openxmlformats.org/drawingml/2006/main">
              <a:ext uri="{FF2B5EF4-FFF2-40B4-BE49-F238E27FC236}">
                <a16:creationId xmlns:a16="http://schemas.microsoft.com/office/drawing/2014/main" id="{EC153A09-61BB-4DAD-9094-4FCB7D0E82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11591925"/>
            <a:ext cx="3362325" cy="323850"/>
          </a:xfrm>
          <a:prstGeom xmlns:a="http://schemas.openxmlformats.org/drawingml/2006/main" prst="roundRect">
            <a:avLst>
              <a:gd name="adj" fmla="val 1764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CCD5DD"/>
            </a:solidFill>
            <a:prstDash val="solid"/>
          </a:ln>
        </p:spPr>
        <p:txBody>
          <a:bodyPr xmlns:a="http://schemas.openxmlformats.org/drawingml/2006/main" lIns="76200" tIns="19050" rIns="76200" bIns="1905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088" b="1">
                <a:solidFill>
                  <a:srgbClr val="0B2035"/>
                </a:solidFill>
                <a:latin typeface="Arial"/>
                <a:ea typeface="Arial"/>
                <a:cs typeface="Arial"/>
              </a:defRPr>
            </a:pPr>
            <a:r>
              <a:rPr sz="1088" b="1">
                <a:solidFill>
                  <a:srgbClr val="0B2035"/>
                </a:solidFill>
                <a:latin typeface="Arial"/>
                <a:ea typeface="Arial"/>
                <a:cs typeface="Arial"/>
              </a:rPr>
              <a:t>7. Smell-specific prediction heads</a:t>
            </a:r>
          </a:p>
        </p:txBody>
      </p:sp>
      <p:cxnSp>
        <p:nvCxnSpPr>
          <p:cNvPr id="247" name="Straight Arrow Connector 163"/>
          <p:cNvCxnSpPr>
            <a:stCxn xmlns:a="http://schemas.openxmlformats.org/drawingml/2006/main" id="51" idx="2"/>
            <a:endCxn xmlns:a="http://schemas.openxmlformats.org/drawingml/2006/main" id="53" idx="0"/>
          </p:cNvCxnSpPr>
          <p:nvPr/>
        </p:nvCxnSpPr>
        <p:spPr>
          <a:xfrm xmlns:a="http://schemas.openxmlformats.org/drawingml/2006/main">
            <a:off x="2871788" y="11458575"/>
            <a:ext cx="0" cy="133350"/>
          </a:xfrm>
          <a:prstGeom xmlns:a="http://schemas.openxmlformats.org/drawingml/2006/main" prst="straightConnector1">
            <a:avLst/>
          </a:prstGeom>
          <a:ln xmlns:a="http://schemas.openxmlformats.org/drawingml/2006/main" w="11430">
            <a:solidFill>
              <a:srgbClr val="526273"/>
            </a:solidFill>
            <a:prstDash val="solid"/>
            <a:tailEnd type="arrow" w="sm" len="sm"/>
          </a:ln>
        </p:spPr>
      </p:cxnSp>
      <p:sp>
        <p:nvSpPr>
          <p:cNvPr id="55" name="Rectangle: Rounded Corners 54">
            <a:extLst xmlns:a="http://schemas.openxmlformats.org/drawingml/2006/main">
              <a:ext uri="{FF2B5EF4-FFF2-40B4-BE49-F238E27FC236}">
                <a16:creationId xmlns:a16="http://schemas.microsoft.com/office/drawing/2014/main" id="{543EB1E6-6295-4B5B-9C2A-956139B7EF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12049125"/>
            <a:ext cx="3362325" cy="323850"/>
          </a:xfrm>
          <a:prstGeom xmlns:a="http://schemas.openxmlformats.org/drawingml/2006/main" prst="roundRect">
            <a:avLst>
              <a:gd name="adj" fmla="val 1764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CCD5DD"/>
            </a:solidFill>
            <a:prstDash val="solid"/>
          </a:ln>
        </p:spPr>
        <p:txBody>
          <a:bodyPr xmlns:a="http://schemas.openxmlformats.org/drawingml/2006/main" lIns="76200" tIns="19050" rIns="76200" bIns="1905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088" b="1">
                <a:solidFill>
                  <a:srgbClr val="0B2035"/>
                </a:solidFill>
                <a:latin typeface="Arial"/>
                <a:ea typeface="Arial"/>
                <a:cs typeface="Arial"/>
              </a:defRPr>
            </a:pPr>
            <a:r>
              <a:rPr sz="1088" b="1">
                <a:solidFill>
                  <a:srgbClr val="0B2035"/>
                </a:solidFill>
                <a:latin typeface="Arial"/>
                <a:ea typeface="Arial"/>
                <a:cs typeface="Arial"/>
              </a:rPr>
              <a:t>8. Refactoring recommendation</a:t>
            </a:r>
          </a:p>
        </p:txBody>
      </p:sp>
      <p:cxnSp>
        <p:nvCxnSpPr>
          <p:cNvPr id="249" name="Straight Arrow Connector 165"/>
          <p:cNvCxnSpPr>
            <a:stCxn xmlns:a="http://schemas.openxmlformats.org/drawingml/2006/main" id="53" idx="2"/>
            <a:endCxn xmlns:a="http://schemas.openxmlformats.org/drawingml/2006/main" id="55" idx="0"/>
          </p:cNvCxnSpPr>
          <p:nvPr/>
        </p:nvCxnSpPr>
        <p:spPr>
          <a:xfrm xmlns:a="http://schemas.openxmlformats.org/drawingml/2006/main">
            <a:off x="2871788" y="11915775"/>
            <a:ext cx="0" cy="133350"/>
          </a:xfrm>
          <a:prstGeom xmlns:a="http://schemas.openxmlformats.org/drawingml/2006/main" prst="straightConnector1">
            <a:avLst/>
          </a:prstGeom>
          <a:ln xmlns:a="http://schemas.openxmlformats.org/drawingml/2006/main" w="11430">
            <a:solidFill>
              <a:srgbClr val="526273"/>
            </a:solidFill>
            <a:prstDash val="solid"/>
            <a:tailEnd type="arrow" w="sm" len="sm"/>
          </a:ln>
        </p:spPr>
      </p:cxnSp>
      <p:sp>
        <p:nvSpPr>
          <p:cNvPr id="57" name="Rectangle 56">
            <a:extLst xmlns:a="http://schemas.openxmlformats.org/drawingml/2006/main">
              <a:ext uri="{FF2B5EF4-FFF2-40B4-BE49-F238E27FC236}">
                <a16:creationId xmlns:a16="http://schemas.microsoft.com/office/drawing/2014/main" id="{CBAE87B1-D733-4506-B020-732D70EC7C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2725400"/>
            <a:ext cx="66675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A83A"/>
          </a:solidFill>
          <a:ln xmlns:a="http://schemas.openxmlformats.org/drawingml/2006/main" w="0">
            <a:noFill/>
          </a:ln>
        </p:spPr>
      </p:sp>
      <p:sp>
        <p:nvSpPr>
          <p:cNvPr id="58" name="Rectangle 57">
            <a:extLst xmlns:a="http://schemas.openxmlformats.org/drawingml/2006/main">
              <a:ext uri="{FF2B5EF4-FFF2-40B4-BE49-F238E27FC236}">
                <a16:creationId xmlns:a16="http://schemas.microsoft.com/office/drawing/2014/main" id="{47D1E4AA-9E3D-4DD3-9141-730CCF1197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706350"/>
            <a:ext cx="45339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0B2035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B2035"/>
                </a:solidFill>
                <a:latin typeface="Arial"/>
                <a:ea typeface="Arial"/>
                <a:cs typeface="Arial"/>
              </a:rPr>
              <a:t>DATASET AND LABELING</a:t>
            </a:r>
          </a:p>
        </p:txBody>
      </p:sp>
      <p:sp>
        <p:nvSpPr>
          <p:cNvPr id="59" name="Straight Connector 58">
            <a:extLst xmlns:a="http://schemas.openxmlformats.org/drawingml/2006/main">
              <a:ext uri="{FF2B5EF4-FFF2-40B4-BE49-F238E27FC236}">
                <a16:creationId xmlns:a16="http://schemas.microsoft.com/office/drawing/2014/main" id="{2C783EE2-7F34-4014-A204-4C01FCA201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020675"/>
            <a:ext cx="4533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CCD5DD"/>
            </a:solidFill>
            <a:prstDash val="solid"/>
          </a:ln>
        </p:spPr>
      </p:sp>
      <p:sp>
        <p:nvSpPr>
          <p:cNvPr id="60" name="Rectangle 59">
            <a:extLst xmlns:a="http://schemas.openxmlformats.org/drawingml/2006/main">
              <a:ext uri="{FF2B5EF4-FFF2-40B4-BE49-F238E27FC236}">
                <a16:creationId xmlns:a16="http://schemas.microsoft.com/office/drawing/2014/main" id="{1248D855-1850-45DA-9DE8-1BD697172C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3125450"/>
            <a:ext cx="15049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2175" b="1">
                <a:solidFill>
                  <a:srgbClr val="0B2035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0B2035"/>
                </a:solidFill>
                <a:latin typeface="Arial"/>
                <a:ea typeface="Arial"/>
                <a:cs typeface="Arial"/>
              </a:rPr>
              <a:t>9 / 3 / 3</a:t>
            </a:r>
          </a:p>
        </p:txBody>
      </p:sp>
      <p:sp>
        <p:nvSpPr>
          <p:cNvPr id="61" name="Rectangle 60">
            <a:extLst xmlns:a="http://schemas.openxmlformats.org/drawingml/2006/main">
              <a:ext uri="{FF2B5EF4-FFF2-40B4-BE49-F238E27FC236}">
                <a16:creationId xmlns:a16="http://schemas.microsoft.com/office/drawing/2014/main" id="{1FA5558D-EBB9-4243-8324-A3DC99DA9D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3477875"/>
            <a:ext cx="15049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975" b="0">
                <a:solidFill>
                  <a:srgbClr val="526273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26273"/>
                </a:solidFill>
                <a:latin typeface="Arial"/>
                <a:ea typeface="Arial"/>
                <a:cs typeface="Arial"/>
              </a:rPr>
              <a:t>train / validation / test repositories</a:t>
            </a:r>
          </a:p>
        </p:txBody>
      </p:sp>
      <p:sp>
        <p:nvSpPr>
          <p:cNvPr id="62" name="Rectangle 61">
            <a:extLst xmlns:a="http://schemas.openxmlformats.org/drawingml/2006/main">
              <a:ext uri="{FF2B5EF4-FFF2-40B4-BE49-F238E27FC236}">
                <a16:creationId xmlns:a16="http://schemas.microsoft.com/office/drawing/2014/main" id="{BBF9C42E-EF2D-4FD1-A492-4CA445C28B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85975" y="13125450"/>
            <a:ext cx="952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2175" b="1">
                <a:solidFill>
                  <a:srgbClr val="3D6FB6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3D6FB6"/>
                </a:solidFill>
                <a:latin typeface="Arial"/>
                <a:ea typeface="Arial"/>
                <a:cs typeface="Arial"/>
              </a:rPr>
              <a:t>547</a:t>
            </a:r>
          </a:p>
        </p:txBody>
      </p:sp>
      <p:sp>
        <p:nvSpPr>
          <p:cNvPr id="63" name="Rectangle 62">
            <a:extLst xmlns:a="http://schemas.openxmlformats.org/drawingml/2006/main">
              <a:ext uri="{FF2B5EF4-FFF2-40B4-BE49-F238E27FC236}">
                <a16:creationId xmlns:a16="http://schemas.microsoft.com/office/drawing/2014/main" id="{639C4507-2D24-43A4-B705-B32D573DD9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85975" y="13477875"/>
            <a:ext cx="952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975" b="0">
                <a:solidFill>
                  <a:srgbClr val="526273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26273"/>
                </a:solidFill>
                <a:latin typeface="Arial"/>
                <a:ea typeface="Arial"/>
                <a:cs typeface="Arial"/>
              </a:rPr>
              <a:t>training files</a:t>
            </a:r>
          </a:p>
        </p:txBody>
      </p:sp>
      <p:sp>
        <p:nvSpPr>
          <p:cNvPr id="64" name="Rectangle 63">
            <a:extLst xmlns:a="http://schemas.openxmlformats.org/drawingml/2006/main">
              <a:ext uri="{FF2B5EF4-FFF2-40B4-BE49-F238E27FC236}">
                <a16:creationId xmlns:a16="http://schemas.microsoft.com/office/drawing/2014/main" id="{76380FE5-EAA2-4CEF-A9C9-96AB1A190A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95625" y="13125450"/>
            <a:ext cx="952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2175" b="1">
                <a:solidFill>
                  <a:srgbClr val="119C95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119C95"/>
                </a:solidFill>
                <a:latin typeface="Arial"/>
                <a:ea typeface="Arial"/>
                <a:cs typeface="Arial"/>
              </a:rPr>
              <a:t>514</a:t>
            </a:r>
          </a:p>
        </p:txBody>
      </p:sp>
      <p:sp>
        <p:nvSpPr>
          <p:cNvPr id="65" name="Rectangle 64">
            <a:extLst xmlns:a="http://schemas.openxmlformats.org/drawingml/2006/main">
              <a:ext uri="{FF2B5EF4-FFF2-40B4-BE49-F238E27FC236}">
                <a16:creationId xmlns:a16="http://schemas.microsoft.com/office/drawing/2014/main" id="{47C9676E-88DA-460C-B224-8578B31675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95625" y="13477875"/>
            <a:ext cx="952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975" b="0">
                <a:solidFill>
                  <a:srgbClr val="526273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26273"/>
                </a:solidFill>
                <a:latin typeface="Arial"/>
                <a:ea typeface="Arial"/>
                <a:cs typeface="Arial"/>
              </a:rPr>
              <a:t>validation files</a:t>
            </a:r>
          </a:p>
        </p:txBody>
      </p:sp>
      <p:sp>
        <p:nvSpPr>
          <p:cNvPr id="66" name="Rectangle 65">
            <a:extLst xmlns:a="http://schemas.openxmlformats.org/drawingml/2006/main">
              <a:ext uri="{FF2B5EF4-FFF2-40B4-BE49-F238E27FC236}">
                <a16:creationId xmlns:a16="http://schemas.microsoft.com/office/drawing/2014/main" id="{B4270B39-0334-4020-ACD9-A0F78600D0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05275" y="13125450"/>
            <a:ext cx="10001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2175" b="1">
                <a:solidFill>
                  <a:srgbClr val="D96755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D96755"/>
                </a:solidFill>
                <a:latin typeface="Arial"/>
                <a:ea typeface="Arial"/>
                <a:cs typeface="Arial"/>
              </a:rPr>
              <a:t>1,574</a:t>
            </a:r>
          </a:p>
        </p:txBody>
      </p:sp>
      <p:sp>
        <p:nvSpPr>
          <p:cNvPr id="67" name="Rectangle 66">
            <a:extLst xmlns:a="http://schemas.openxmlformats.org/drawingml/2006/main">
              <a:ext uri="{FF2B5EF4-FFF2-40B4-BE49-F238E27FC236}">
                <a16:creationId xmlns:a16="http://schemas.microsoft.com/office/drawing/2014/main" id="{D2421D3A-5266-4AEC-BFC2-8D9D08F69C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05275" y="13477875"/>
            <a:ext cx="10001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975" b="0">
                <a:solidFill>
                  <a:srgbClr val="526273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26273"/>
                </a:solidFill>
                <a:latin typeface="Arial"/>
                <a:ea typeface="Arial"/>
                <a:cs typeface="Arial"/>
              </a:rPr>
              <a:t>test files</a:t>
            </a:r>
          </a:p>
        </p:txBody>
      </p:sp>
      <p:sp>
        <p:nvSpPr>
          <p:cNvPr id="68" name="Rectangle 67">
            <a:extLst xmlns:a="http://schemas.openxmlformats.org/drawingml/2006/main">
              <a:ext uri="{FF2B5EF4-FFF2-40B4-BE49-F238E27FC236}">
                <a16:creationId xmlns:a16="http://schemas.microsoft.com/office/drawing/2014/main" id="{90D2C879-0D9C-44C8-A77F-203E4ED719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3906500"/>
            <a:ext cx="4695825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88" b="0">
                <a:solidFill>
                  <a:srgbClr val="142333"/>
                </a:solidFill>
                <a:latin typeface="Arial"/>
                <a:ea typeface="Arial"/>
                <a:cs typeface="Arial"/>
              </a:defRPr>
            </a:pPr>
            <a:r>
              <a:rPr sz="1088" b="0">
                <a:solidFill>
                  <a:srgbClr val="142333"/>
                </a:solidFill>
                <a:latin typeface="Arial"/>
                <a:ea typeface="Arial"/>
                <a:cs typeface="Arial"/>
              </a:rPr>
              <a:t>The split has zero repository overlap and no reported parse errors. Labels are rule-derived silver labels. Duplicate methods and classes were removed to reduce leakage risk.</a:t>
            </a:r>
          </a:p>
        </p:txBody>
      </p:sp>
      <p:sp>
        <p:nvSpPr>
          <p:cNvPr id="69" name="Rectangle 68">
            <a:extLst xmlns:a="http://schemas.openxmlformats.org/drawingml/2006/main">
              <a:ext uri="{FF2B5EF4-FFF2-40B4-BE49-F238E27FC236}">
                <a16:creationId xmlns:a16="http://schemas.microsoft.com/office/drawing/2014/main" id="{8A4E2DD2-2F32-495B-ACFC-ED8CF66C98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3829050"/>
            <a:ext cx="66675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A83A"/>
          </a:solidFill>
          <a:ln xmlns:a="http://schemas.openxmlformats.org/drawingml/2006/main" w="0">
            <a:noFill/>
          </a:ln>
        </p:spPr>
      </p:sp>
      <p:sp>
        <p:nvSpPr>
          <p:cNvPr id="70" name="Rectangle 69">
            <a:extLst xmlns:a="http://schemas.openxmlformats.org/drawingml/2006/main">
              <a:ext uri="{FF2B5EF4-FFF2-40B4-BE49-F238E27FC236}">
                <a16:creationId xmlns:a16="http://schemas.microsoft.com/office/drawing/2014/main" id="{7286C55E-3BCC-4FEE-8E62-B3EA91F4F8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86425" y="3810000"/>
            <a:ext cx="44958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0B2035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B2035"/>
                </a:solidFill>
                <a:latin typeface="Arial"/>
                <a:ea typeface="Arial"/>
                <a:cs typeface="Arial"/>
              </a:rPr>
              <a:t>MODEL AND METHODOLOGY</a:t>
            </a:r>
          </a:p>
        </p:txBody>
      </p:sp>
      <p:sp>
        <p:nvSpPr>
          <p:cNvPr id="71" name="Straight Connector 70">
            <a:extLst xmlns:a="http://schemas.openxmlformats.org/drawingml/2006/main">
              <a:ext uri="{FF2B5EF4-FFF2-40B4-BE49-F238E27FC236}">
                <a16:creationId xmlns:a16="http://schemas.microsoft.com/office/drawing/2014/main" id="{2D0970DF-F7C4-4CC4-9BDE-1382B7233B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86425" y="4124325"/>
            <a:ext cx="4495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CCD5DD"/>
            </a:solidFill>
            <a:prstDash val="solid"/>
          </a:ln>
        </p:spPr>
      </p:sp>
      <p:sp>
        <p:nvSpPr>
          <p:cNvPr id="72" name="Oval 71">
            <a:extLst xmlns:a="http://schemas.openxmlformats.org/drawingml/2006/main">
              <a:ext uri="{FF2B5EF4-FFF2-40B4-BE49-F238E27FC236}">
                <a16:creationId xmlns:a16="http://schemas.microsoft.com/office/drawing/2014/main" id="{9D612E5E-9CF5-47EE-BE4C-273C194D65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4324350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7A83A"/>
          </a:solidFill>
          <a:ln xmlns:a="http://schemas.openxmlformats.org/drawingml/2006/main" w="0">
            <a:noFill/>
          </a:ln>
        </p:spPr>
      </p:sp>
      <p:sp>
        <p:nvSpPr>
          <p:cNvPr id="73" name="Rectangle 72">
            <a:extLst xmlns:a="http://schemas.openxmlformats.org/drawingml/2006/main">
              <a:ext uri="{FF2B5EF4-FFF2-40B4-BE49-F238E27FC236}">
                <a16:creationId xmlns:a16="http://schemas.microsoft.com/office/drawing/2014/main" id="{F4CA7881-94A9-457F-9A91-4DD3348EB4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76900" y="4257675"/>
            <a:ext cx="450532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0">
                <a:solidFill>
                  <a:srgbClr val="142333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42333"/>
                </a:solidFill>
                <a:latin typeface="Arial"/>
                <a:ea typeface="Arial"/>
                <a:cs typeface="Arial"/>
              </a:rPr>
              <a:t>Two graph-attention layers with three independent prediction heads.</a:t>
            </a:r>
          </a:p>
        </p:txBody>
      </p:sp>
      <p:sp>
        <p:nvSpPr>
          <p:cNvPr id="74" name="Oval 73">
            <a:extLst xmlns:a="http://schemas.openxmlformats.org/drawingml/2006/main">
              <a:ext uri="{FF2B5EF4-FFF2-40B4-BE49-F238E27FC236}">
                <a16:creationId xmlns:a16="http://schemas.microsoft.com/office/drawing/2014/main" id="{6989B700-873E-4BEB-A32A-002BF3894B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4819650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7A83A"/>
          </a:solidFill>
          <a:ln xmlns:a="http://schemas.openxmlformats.org/drawingml/2006/main" w="0">
            <a:noFill/>
          </a:ln>
        </p:spPr>
      </p:sp>
      <p:sp>
        <p:nvSpPr>
          <p:cNvPr id="75" name="Rectangle 74">
            <a:extLst xmlns:a="http://schemas.openxmlformats.org/drawingml/2006/main">
              <a:ext uri="{FF2B5EF4-FFF2-40B4-BE49-F238E27FC236}">
                <a16:creationId xmlns:a16="http://schemas.microsoft.com/office/drawing/2014/main" id="{F466C354-F333-436C-AFFC-454AA43FC7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76900" y="4752975"/>
            <a:ext cx="450532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0">
                <a:solidFill>
                  <a:srgbClr val="142333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42333"/>
                </a:solidFill>
                <a:latin typeface="Arial"/>
                <a:ea typeface="Arial"/>
                <a:cs typeface="Arial"/>
              </a:rPr>
              <a:t>Frozen microsoft/codebert-base embeddings are not fine-tuned.</a:t>
            </a:r>
          </a:p>
        </p:txBody>
      </p:sp>
      <p:sp>
        <p:nvSpPr>
          <p:cNvPr id="76" name="Oval 75">
            <a:extLst xmlns:a="http://schemas.openxmlformats.org/drawingml/2006/main">
              <a:ext uri="{FF2B5EF4-FFF2-40B4-BE49-F238E27FC236}">
                <a16:creationId xmlns:a16="http://schemas.microsoft.com/office/drawing/2014/main" id="{90622579-48C4-4A33-B36D-3336790535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5314950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7A83A"/>
          </a:solidFill>
          <a:ln xmlns:a="http://schemas.openxmlformats.org/drawingml/2006/main" w="0">
            <a:noFill/>
          </a:ln>
        </p:spPr>
      </p:sp>
      <p:sp>
        <p:nvSpPr>
          <p:cNvPr id="77" name="Rectangle 76">
            <a:extLst xmlns:a="http://schemas.openxmlformats.org/drawingml/2006/main">
              <a:ext uri="{FF2B5EF4-FFF2-40B4-BE49-F238E27FC236}">
                <a16:creationId xmlns:a16="http://schemas.microsoft.com/office/drawing/2014/main" id="{E3D36FEC-DF2D-4874-961B-7FF002BF7A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76900" y="5248275"/>
            <a:ext cx="450532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63" b="0">
                <a:solidFill>
                  <a:srgbClr val="142333"/>
                </a:solidFill>
                <a:latin typeface="Arial"/>
                <a:ea typeface="Arial"/>
                <a:cs typeface="Arial"/>
              </a:defRPr>
            </a:pPr>
            <a:r>
              <a:rPr sz="1163" b="0">
                <a:solidFill>
                  <a:srgbClr val="142333"/>
                </a:solidFill>
                <a:latin typeface="Arial"/>
                <a:ea typeface="Arial"/>
                <a:cs typeface="Arial"/>
              </a:rPr>
              <a:t>Selected seed_43 checkpoint: hidden dimension 64, 2 heads, dropout 0.174, and 269,315 trainable GAT/classifier parameters.</a:t>
            </a:r>
          </a:p>
        </p:txBody>
      </p:sp>
      <p:sp>
        <p:nvSpPr>
          <p:cNvPr id="78" name="Oval 77">
            <a:extLst xmlns:a="http://schemas.openxmlformats.org/drawingml/2006/main">
              <a:ext uri="{FF2B5EF4-FFF2-40B4-BE49-F238E27FC236}">
                <a16:creationId xmlns:a16="http://schemas.microsoft.com/office/drawing/2014/main" id="{B513E9E4-DE31-4E74-86C1-EEB3DCDF58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6048375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7A83A"/>
          </a:solidFill>
          <a:ln xmlns:a="http://schemas.openxmlformats.org/drawingml/2006/main" w="0">
            <a:noFill/>
          </a:ln>
        </p:spPr>
      </p:sp>
      <p:sp>
        <p:nvSpPr>
          <p:cNvPr id="79" name="Rectangle 78">
            <a:extLst xmlns:a="http://schemas.openxmlformats.org/drawingml/2006/main">
              <a:ext uri="{FF2B5EF4-FFF2-40B4-BE49-F238E27FC236}">
                <a16:creationId xmlns:a16="http://schemas.microsoft.com/office/drawing/2014/main" id="{A9B53BB5-6C26-44BD-908D-D481C39653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76900" y="5981700"/>
            <a:ext cx="450532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63" b="0">
                <a:solidFill>
                  <a:srgbClr val="142333"/>
                </a:solidFill>
                <a:latin typeface="Arial"/>
                <a:ea typeface="Arial"/>
                <a:cs typeface="Arial"/>
              </a:defRPr>
            </a:pPr>
            <a:r>
              <a:rPr sz="1163" b="0">
                <a:solidFill>
                  <a:srgbClr val="142333"/>
                </a:solidFill>
                <a:latin typeface="Arial"/>
                <a:ea typeface="Arial"/>
                <a:cs typeface="Arial"/>
              </a:rPr>
              <a:t>God Class Design B combines each class embedding with a mean pool of its methods.</a:t>
            </a:r>
          </a:p>
        </p:txBody>
      </p:sp>
      <p:sp>
        <p:nvSpPr>
          <p:cNvPr id="80" name="Oval 79">
            <a:extLst xmlns:a="http://schemas.openxmlformats.org/drawingml/2006/main">
              <a:ext uri="{FF2B5EF4-FFF2-40B4-BE49-F238E27FC236}">
                <a16:creationId xmlns:a16="http://schemas.microsoft.com/office/drawing/2014/main" id="{E2A44D15-06FB-41D3-BA17-C5D227BB27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6657975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7A83A"/>
          </a:solidFill>
          <a:ln xmlns:a="http://schemas.openxmlformats.org/drawingml/2006/main" w="0">
            <a:noFill/>
          </a:ln>
        </p:spPr>
      </p:sp>
      <p:sp>
        <p:nvSpPr>
          <p:cNvPr id="81" name="Rectangle 80">
            <a:extLst xmlns:a="http://schemas.openxmlformats.org/drawingml/2006/main">
              <a:ext uri="{FF2B5EF4-FFF2-40B4-BE49-F238E27FC236}">
                <a16:creationId xmlns:a16="http://schemas.microsoft.com/office/drawing/2014/main" id="{998F8278-E44D-4501-9D5A-1BD7E0B2EF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76900" y="6591300"/>
            <a:ext cx="450532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63" b="0">
                <a:solidFill>
                  <a:srgbClr val="142333"/>
                </a:solidFill>
                <a:latin typeface="Arial"/>
                <a:ea typeface="Arial"/>
                <a:cs typeface="Arial"/>
              </a:defRPr>
            </a:pPr>
            <a:r>
              <a:rPr sz="1163" b="0">
                <a:solidFill>
                  <a:srgbClr val="142333"/>
                </a:solidFill>
                <a:latin typeface="Arial"/>
                <a:ea typeface="Arial"/>
                <a:cs typeface="Arial"/>
              </a:rPr>
              <a:t>Feature Envy uses dominant_external_count to match the label rule's dominant receiver logic.</a:t>
            </a:r>
          </a:p>
        </p:txBody>
      </p:sp>
      <p:sp>
        <p:nvSpPr>
          <p:cNvPr id="82" name="Rectangle 81">
            <a:extLst xmlns:a="http://schemas.openxmlformats.org/drawingml/2006/main">
              <a:ext uri="{FF2B5EF4-FFF2-40B4-BE49-F238E27FC236}">
                <a16:creationId xmlns:a16="http://schemas.microsoft.com/office/drawing/2014/main" id="{901B2B69-DED3-4F28-8FD4-2D9675E921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7315200"/>
            <a:ext cx="66675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9C95"/>
          </a:solidFill>
          <a:ln xmlns:a="http://schemas.openxmlformats.org/drawingml/2006/main" w="0">
            <a:noFill/>
          </a:ln>
        </p:spPr>
      </p:sp>
      <p:sp>
        <p:nvSpPr>
          <p:cNvPr id="83" name="Rectangle 82">
            <a:extLst xmlns:a="http://schemas.openxmlformats.org/drawingml/2006/main">
              <a:ext uri="{FF2B5EF4-FFF2-40B4-BE49-F238E27FC236}">
                <a16:creationId xmlns:a16="http://schemas.microsoft.com/office/drawing/2014/main" id="{854C082B-957C-4087-B773-F464E1FD82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86425" y="7296150"/>
            <a:ext cx="44958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0B2035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B2035"/>
                </a:solidFill>
                <a:latin typeface="Arial"/>
                <a:ea typeface="Arial"/>
                <a:cs typeface="Arial"/>
              </a:rPr>
              <a:t>FINAL DEPLOYED CANDIDATE</a:t>
            </a:r>
          </a:p>
        </p:txBody>
      </p:sp>
      <p:sp>
        <p:nvSpPr>
          <p:cNvPr id="84" name="Straight Connector 83">
            <a:extLst xmlns:a="http://schemas.openxmlformats.org/drawingml/2006/main">
              <a:ext uri="{FF2B5EF4-FFF2-40B4-BE49-F238E27FC236}">
                <a16:creationId xmlns:a16="http://schemas.microsoft.com/office/drawing/2014/main" id="{1E11D852-92FF-449D-BC70-7C81F0AFA6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86425" y="7610475"/>
            <a:ext cx="4495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CCD5DD"/>
            </a:solidFill>
            <a:prstDash val="solid"/>
          </a:ln>
        </p:spPr>
      </p:sp>
      <p:sp>
        <p:nvSpPr>
          <p:cNvPr id="85" name="Rectangle 84">
            <a:extLst xmlns:a="http://schemas.openxmlformats.org/drawingml/2006/main">
              <a:ext uri="{FF2B5EF4-FFF2-40B4-BE49-F238E27FC236}">
                <a16:creationId xmlns:a16="http://schemas.microsoft.com/office/drawing/2014/main" id="{625EC8A3-4273-4E32-8D1D-6C15EF6557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7715250"/>
            <a:ext cx="46577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0">
                <a:solidFill>
                  <a:srgbClr val="526273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26273"/>
                </a:solidFill>
                <a:latin typeface="Arial"/>
                <a:ea typeface="Arial"/>
                <a:cs typeface="Arial"/>
              </a:rPr>
              <a:t>F1 score on the corrected TEST A/B evaluation</a:t>
            </a:r>
          </a:p>
        </p:txBody>
      </p:sp>
      <p:sp>
        <p:nvSpPr>
          <p:cNvPr id="87" name="Rectangle 86">
            <a:extLst xmlns:a="http://schemas.openxmlformats.org/drawingml/2006/main">
              <a:ext uri="{FF2B5EF4-FFF2-40B4-BE49-F238E27FC236}">
                <a16:creationId xmlns:a16="http://schemas.microsoft.com/office/drawing/2014/main" id="{56E76BDD-7917-47C3-8562-C104CCE959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10525125"/>
            <a:ext cx="46577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0B2035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0B2035"/>
                </a:solidFill>
                <a:latin typeface="Arial"/>
                <a:ea typeface="Arial"/>
                <a:cs typeface="Arial"/>
              </a:rPr>
              <a:t>Improvement vs corrected baseline</a:t>
            </a:r>
          </a:p>
        </p:txBody>
      </p:sp>
      <p:sp>
        <p:nvSpPr>
          <p:cNvPr id="88" name="Rectangle 87">
            <a:extLst xmlns:a="http://schemas.openxmlformats.org/drawingml/2006/main">
              <a:ext uri="{FF2B5EF4-FFF2-40B4-BE49-F238E27FC236}">
                <a16:creationId xmlns:a16="http://schemas.microsoft.com/office/drawing/2014/main" id="{C84F985E-D554-43BE-9024-BC88BF5453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10782300"/>
            <a:ext cx="46577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13" b="0">
                <a:solidFill>
                  <a:srgbClr val="119C95"/>
                </a:solidFill>
                <a:latin typeface="Arial"/>
                <a:ea typeface="Arial"/>
                <a:cs typeface="Arial"/>
              </a:defRPr>
            </a:pPr>
            <a:r>
              <a:rPr sz="1013" b="0">
                <a:solidFill>
                  <a:srgbClr val="119C95"/>
                </a:solidFill>
                <a:latin typeface="Arial"/>
                <a:ea typeface="Arial"/>
                <a:cs typeface="Arial"/>
              </a:rPr>
              <a:t>Long Method +0.0225     Feature Envy +0.0912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013" b="0">
                <a:solidFill>
                  <a:srgbClr val="119C95"/>
                </a:solidFill>
                <a:latin typeface="Arial"/>
                <a:ea typeface="Arial"/>
                <a:cs typeface="Arial"/>
              </a:defRPr>
            </a:pPr>
            <a:r>
              <a:rPr sz="1013" b="0">
                <a:solidFill>
                  <a:srgbClr val="119C95"/>
                </a:solidFill>
                <a:latin typeface="Arial"/>
                <a:ea typeface="Arial"/>
                <a:cs typeface="Arial"/>
              </a:rPr>
              <a:t>God Class +0.0196          Macro-F1 +0.0444</a:t>
            </a:r>
          </a:p>
        </p:txBody>
      </p:sp>
      <p:sp>
        <p:nvSpPr>
          <p:cNvPr id="89" name="Rectangle 88">
            <a:extLst xmlns:a="http://schemas.openxmlformats.org/drawingml/2006/main">
              <a:ext uri="{FF2B5EF4-FFF2-40B4-BE49-F238E27FC236}">
                <a16:creationId xmlns:a16="http://schemas.microsoft.com/office/drawing/2014/main" id="{28CDFD6B-3BC6-482F-B16F-DF8981D1BE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11353800"/>
            <a:ext cx="66675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A83A"/>
          </a:solidFill>
          <a:ln xmlns:a="http://schemas.openxmlformats.org/drawingml/2006/main" w="0">
            <a:noFill/>
          </a:ln>
        </p:spPr>
      </p:sp>
      <p:sp>
        <p:nvSpPr>
          <p:cNvPr id="90" name="Rectangle 89">
            <a:extLst xmlns:a="http://schemas.openxmlformats.org/drawingml/2006/main">
              <a:ext uri="{FF2B5EF4-FFF2-40B4-BE49-F238E27FC236}">
                <a16:creationId xmlns:a16="http://schemas.microsoft.com/office/drawing/2014/main" id="{2578E710-8A0F-42F6-9CAE-EB967F6108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86425" y="11334750"/>
            <a:ext cx="44958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0B2035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B2035"/>
                </a:solidFill>
                <a:latin typeface="Arial"/>
                <a:ea typeface="Arial"/>
                <a:cs typeface="Arial"/>
              </a:rPr>
              <a:t>DEPLOYMENT VALIDATION</a:t>
            </a:r>
          </a:p>
        </p:txBody>
      </p:sp>
      <p:sp>
        <p:nvSpPr>
          <p:cNvPr id="91" name="Straight Connector 90">
            <a:extLst xmlns:a="http://schemas.openxmlformats.org/drawingml/2006/main">
              <a:ext uri="{FF2B5EF4-FFF2-40B4-BE49-F238E27FC236}">
                <a16:creationId xmlns:a16="http://schemas.microsoft.com/office/drawing/2014/main" id="{D3B15EEA-A08C-4245-8AFB-C3DFD0361D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86425" y="11649075"/>
            <a:ext cx="4495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CCD5DD"/>
            </a:solidFill>
            <a:prstDash val="solid"/>
          </a:ln>
        </p:spPr>
      </p:sp>
      <p:sp>
        <p:nvSpPr>
          <p:cNvPr id="92" name="Rectangle 91">
            <a:extLst xmlns:a="http://schemas.openxmlformats.org/drawingml/2006/main">
              <a:ext uri="{FF2B5EF4-FFF2-40B4-BE49-F238E27FC236}">
                <a16:creationId xmlns:a16="http://schemas.microsoft.com/office/drawing/2014/main" id="{60306411-0F3A-48B3-90CA-ECE8A2298B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11753850"/>
            <a:ext cx="1409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2175" b="1">
                <a:solidFill>
                  <a:srgbClr val="3D6FB6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3D6FB6"/>
                </a:solidFill>
                <a:latin typeface="Arial"/>
                <a:ea typeface="Arial"/>
                <a:cs typeface="Arial"/>
              </a:rPr>
              <a:t>94</a:t>
            </a:r>
          </a:p>
        </p:txBody>
      </p:sp>
      <p:sp>
        <p:nvSpPr>
          <p:cNvPr id="93" name="Rectangle 92">
            <a:extLst xmlns:a="http://schemas.openxmlformats.org/drawingml/2006/main">
              <a:ext uri="{FF2B5EF4-FFF2-40B4-BE49-F238E27FC236}">
                <a16:creationId xmlns:a16="http://schemas.microsoft.com/office/drawing/2014/main" id="{AD5CCA8C-F570-4F01-B413-ED6907FE73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12106275"/>
            <a:ext cx="14097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975" b="0">
                <a:solidFill>
                  <a:srgbClr val="526273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26273"/>
                </a:solidFill>
                <a:latin typeface="Arial"/>
                <a:ea typeface="Arial"/>
                <a:cs typeface="Arial"/>
              </a:rPr>
              <a:t>backend and ML tests passed</a:t>
            </a:r>
          </a:p>
        </p:txBody>
      </p:sp>
      <p:sp>
        <p:nvSpPr>
          <p:cNvPr id="94" name="Rectangle 93">
            <a:extLst xmlns:a="http://schemas.openxmlformats.org/drawingml/2006/main">
              <a:ext uri="{FF2B5EF4-FFF2-40B4-BE49-F238E27FC236}">
                <a16:creationId xmlns:a16="http://schemas.microsoft.com/office/drawing/2014/main" id="{ABFADF7D-A907-4DFE-B1E2-8B52C22891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96125" y="11753850"/>
            <a:ext cx="13525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2175" b="1">
                <a:solidFill>
                  <a:srgbClr val="119C95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119C95"/>
                </a:solidFill>
                <a:latin typeface="Arial"/>
                <a:ea typeface="Arial"/>
                <a:cs typeface="Arial"/>
              </a:rPr>
              <a:t>25</a:t>
            </a:r>
          </a:p>
        </p:txBody>
      </p:sp>
      <p:sp>
        <p:nvSpPr>
          <p:cNvPr id="95" name="Rectangle 94">
            <a:extLst xmlns:a="http://schemas.openxmlformats.org/drawingml/2006/main">
              <a:ext uri="{FF2B5EF4-FFF2-40B4-BE49-F238E27FC236}">
                <a16:creationId xmlns:a16="http://schemas.microsoft.com/office/drawing/2014/main" id="{0E5B77C5-F501-4744-814A-C7FA5B50BA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96125" y="12106275"/>
            <a:ext cx="13525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975" b="0">
                <a:solidFill>
                  <a:srgbClr val="526273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26273"/>
                </a:solidFill>
                <a:latin typeface="Arial"/>
                <a:ea typeface="Arial"/>
                <a:cs typeface="Arial"/>
              </a:rPr>
              <a:t>frontend tests passed</a:t>
            </a:r>
          </a:p>
        </p:txBody>
      </p:sp>
      <p:sp>
        <p:nvSpPr>
          <p:cNvPr id="96" name="Rectangle 95">
            <a:extLst xmlns:a="http://schemas.openxmlformats.org/drawingml/2006/main">
              <a:ext uri="{FF2B5EF4-FFF2-40B4-BE49-F238E27FC236}">
                <a16:creationId xmlns:a16="http://schemas.microsoft.com/office/drawing/2014/main" id="{F05813E2-6139-4567-9380-09790D4035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11753850"/>
            <a:ext cx="14763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2175" b="1">
                <a:solidFill>
                  <a:srgbClr val="D96755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D96755"/>
                </a:solidFill>
                <a:latin typeface="Arial"/>
                <a:ea typeface="Arial"/>
                <a:cs typeface="Arial"/>
              </a:rPr>
              <a:t>OK</a:t>
            </a:r>
          </a:p>
        </p:txBody>
      </p:sp>
      <p:sp>
        <p:nvSpPr>
          <p:cNvPr id="97" name="Rectangle 96">
            <a:extLst xmlns:a="http://schemas.openxmlformats.org/drawingml/2006/main">
              <a:ext uri="{FF2B5EF4-FFF2-40B4-BE49-F238E27FC236}">
                <a16:creationId xmlns:a16="http://schemas.microsoft.com/office/drawing/2014/main" id="{74AF6796-BB67-4D8F-95DB-29AF0A7E58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12106275"/>
            <a:ext cx="14763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975" b="0">
                <a:solidFill>
                  <a:srgbClr val="526273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26273"/>
                </a:solidFill>
                <a:latin typeface="Arial"/>
                <a:ea typeface="Arial"/>
                <a:cs typeface="Arial"/>
              </a:rPr>
              <a:t>/health: model_loaded true</a:t>
            </a:r>
          </a:p>
        </p:txBody>
      </p:sp>
      <p:sp>
        <p:nvSpPr>
          <p:cNvPr id="98" name="Rectangle 97">
            <a:extLst xmlns:a="http://schemas.openxmlformats.org/drawingml/2006/main">
              <a:ext uri="{FF2B5EF4-FFF2-40B4-BE49-F238E27FC236}">
                <a16:creationId xmlns:a16="http://schemas.microsoft.com/office/drawing/2014/main" id="{435C1152-97DD-46D7-88D0-DAB8648F3E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12525375"/>
            <a:ext cx="4657725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88" b="0">
                <a:solidFill>
                  <a:srgbClr val="142333"/>
                </a:solidFill>
                <a:latin typeface="Arial"/>
                <a:ea typeface="Arial"/>
                <a:cs typeface="Arial"/>
              </a:defRPr>
            </a:pPr>
            <a:r>
              <a:rPr sz="1088" b="0">
                <a:solidFill>
                  <a:srgbClr val="142333"/>
                </a:solidFill>
                <a:latin typeface="Arial"/>
                <a:ea typeface="Arial"/>
                <a:cs typeface="Arial"/>
              </a:rPr>
              <a:t>The frontend production build succeeds. Live /analyze verification returned the expected schema, graph output, smell predictions, and threshold-consistent results.</a:t>
            </a:r>
          </a:p>
        </p:txBody>
      </p:sp>
      <p:sp>
        <p:nvSpPr>
          <p:cNvPr id="99" name="Rectangle 98">
            <a:extLst xmlns:a="http://schemas.openxmlformats.org/drawingml/2006/main">
              <a:ext uri="{FF2B5EF4-FFF2-40B4-BE49-F238E27FC236}">
                <a16:creationId xmlns:a16="http://schemas.microsoft.com/office/drawing/2014/main" id="{8CD2C9BD-1F9A-4795-9CA0-99A12CF193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13144500"/>
            <a:ext cx="66675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6755"/>
          </a:solidFill>
          <a:ln xmlns:a="http://schemas.openxmlformats.org/drawingml/2006/main" w="0">
            <a:noFill/>
          </a:ln>
        </p:spPr>
      </p:sp>
      <p:sp>
        <p:nvSpPr>
          <p:cNvPr id="100" name="Rectangle 99">
            <a:extLst xmlns:a="http://schemas.openxmlformats.org/drawingml/2006/main">
              <a:ext uri="{FF2B5EF4-FFF2-40B4-BE49-F238E27FC236}">
                <a16:creationId xmlns:a16="http://schemas.microsoft.com/office/drawing/2014/main" id="{66158A1A-D298-4C6A-83ED-ABD2C83B3F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86425" y="13125450"/>
            <a:ext cx="44958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0B2035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B2035"/>
                </a:solidFill>
                <a:latin typeface="Arial"/>
                <a:ea typeface="Arial"/>
                <a:cs typeface="Arial"/>
              </a:rPr>
              <a:t>LIMITATIONS</a:t>
            </a:r>
          </a:p>
        </p:txBody>
      </p:sp>
      <p:sp>
        <p:nvSpPr>
          <p:cNvPr id="101" name="Straight Connector 100">
            <a:extLst xmlns:a="http://schemas.openxmlformats.org/drawingml/2006/main">
              <a:ext uri="{FF2B5EF4-FFF2-40B4-BE49-F238E27FC236}">
                <a16:creationId xmlns:a16="http://schemas.microsoft.com/office/drawing/2014/main" id="{5A3A28E1-97BF-4B49-AA83-2302A512CA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86425" y="13439775"/>
            <a:ext cx="4495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CCD5DD"/>
            </a:solidFill>
            <a:prstDash val="solid"/>
          </a:ln>
        </p:spPr>
      </p:sp>
      <p:sp>
        <p:nvSpPr>
          <p:cNvPr id="102" name="Oval 101">
            <a:extLst xmlns:a="http://schemas.openxmlformats.org/drawingml/2006/main">
              <a:ext uri="{FF2B5EF4-FFF2-40B4-BE49-F238E27FC236}">
                <a16:creationId xmlns:a16="http://schemas.microsoft.com/office/drawing/2014/main" id="{71BD443C-56D7-4ECC-9A4E-D5140AB7E8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13592175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96755"/>
          </a:solidFill>
          <a:ln xmlns:a="http://schemas.openxmlformats.org/drawingml/2006/main" w="0">
            <a:noFill/>
          </a:ln>
        </p:spPr>
      </p:sp>
      <p:sp>
        <p:nvSpPr>
          <p:cNvPr id="103" name="Rectangle 102">
            <a:extLst xmlns:a="http://schemas.openxmlformats.org/drawingml/2006/main">
              <a:ext uri="{FF2B5EF4-FFF2-40B4-BE49-F238E27FC236}">
                <a16:creationId xmlns:a16="http://schemas.microsoft.com/office/drawing/2014/main" id="{D6502E9B-DE2C-4C0C-B1AA-3C2326FCCC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76900" y="13525500"/>
            <a:ext cx="45053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88" b="0">
                <a:solidFill>
                  <a:srgbClr val="142333"/>
                </a:solidFill>
                <a:latin typeface="Arial"/>
                <a:ea typeface="Arial"/>
                <a:cs typeface="Arial"/>
              </a:defRPr>
            </a:pPr>
            <a:r>
              <a:rPr sz="1088" b="0">
                <a:solidFill>
                  <a:srgbClr val="142333"/>
                </a:solidFill>
                <a:latin typeface="Arial"/>
                <a:ea typeface="Arial"/>
                <a:cs typeface="Arial"/>
              </a:rPr>
              <a:t>Silver labels do not replace human-labeled ground truth.</a:t>
            </a:r>
          </a:p>
        </p:txBody>
      </p:sp>
      <p:sp>
        <p:nvSpPr>
          <p:cNvPr id="104" name="Oval 103">
            <a:extLst xmlns:a="http://schemas.openxmlformats.org/drawingml/2006/main">
              <a:ext uri="{FF2B5EF4-FFF2-40B4-BE49-F238E27FC236}">
                <a16:creationId xmlns:a16="http://schemas.microsoft.com/office/drawing/2014/main" id="{38556443-A844-487E-AE7F-93A3BF08C6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13935075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96755"/>
          </a:solidFill>
          <a:ln xmlns:a="http://schemas.openxmlformats.org/drawingml/2006/main" w="0">
            <a:noFill/>
          </a:ln>
        </p:spPr>
      </p:sp>
      <p:sp>
        <p:nvSpPr>
          <p:cNvPr id="105" name="Rectangle 104">
            <a:extLst xmlns:a="http://schemas.openxmlformats.org/drawingml/2006/main">
              <a:ext uri="{FF2B5EF4-FFF2-40B4-BE49-F238E27FC236}">
                <a16:creationId xmlns:a16="http://schemas.microsoft.com/office/drawing/2014/main" id="{4E419904-C9FF-452E-A23E-4458C12FCD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76900" y="13868400"/>
            <a:ext cx="45053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88" b="0">
                <a:solidFill>
                  <a:srgbClr val="142333"/>
                </a:solidFill>
                <a:latin typeface="Arial"/>
                <a:ea typeface="Arial"/>
                <a:cs typeface="Arial"/>
              </a:defRPr>
            </a:pPr>
            <a:r>
              <a:rPr sz="1088" b="0">
                <a:solidFill>
                  <a:srgbClr val="142333"/>
                </a:solidFill>
                <a:latin typeface="Arial"/>
                <a:ea typeface="Arial"/>
                <a:cs typeface="Arial"/>
              </a:rPr>
              <a:t>Raw sigmoid scores are not calibrated probabilities, confidence, or accuracy.</a:t>
            </a:r>
          </a:p>
        </p:txBody>
      </p:sp>
      <p:sp>
        <p:nvSpPr>
          <p:cNvPr id="106" name="Oval 105">
            <a:extLst xmlns:a="http://schemas.openxmlformats.org/drawingml/2006/main">
              <a:ext uri="{FF2B5EF4-FFF2-40B4-BE49-F238E27FC236}">
                <a16:creationId xmlns:a16="http://schemas.microsoft.com/office/drawing/2014/main" id="{4F0A3F54-A697-43E0-99B1-3B2F794D5C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14335125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96755"/>
          </a:solidFill>
          <a:ln xmlns:a="http://schemas.openxmlformats.org/drawingml/2006/main" w="0">
            <a:noFill/>
          </a:ln>
        </p:spPr>
      </p:sp>
      <p:sp>
        <p:nvSpPr>
          <p:cNvPr id="107" name="Rectangle 106">
            <a:extLst xmlns:a="http://schemas.openxmlformats.org/drawingml/2006/main">
              <a:ext uri="{FF2B5EF4-FFF2-40B4-BE49-F238E27FC236}">
                <a16:creationId xmlns:a16="http://schemas.microsoft.com/office/drawing/2014/main" id="{399E5149-B3F3-4AEE-95D9-592B2BAC07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76900" y="14268450"/>
            <a:ext cx="45053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95741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88" b="0">
                <a:solidFill>
                  <a:srgbClr val="142333"/>
                </a:solidFill>
                <a:latin typeface="Arial"/>
                <a:ea typeface="Arial"/>
                <a:cs typeface="Arial"/>
              </a:defRPr>
            </a:pPr>
            <a:r>
              <a:rPr sz="1088" b="0">
                <a:solidFill>
                  <a:srgbClr val="142333"/>
                </a:solidFill>
                <a:latin typeface="Arial"/>
                <a:ea typeface="Arial"/>
                <a:cs typeface="Arial"/>
              </a:rPr>
              <a:t>The system recommends refactoring techniques but does not automatically rewrite source code.</a:t>
            </a:r>
          </a:p>
        </p:txBody>
      </p:sp>
      <p:sp>
        <p:nvSpPr>
          <p:cNvPr id="108" name="Rectangle 107">
            <a:extLst xmlns:a="http://schemas.openxmlformats.org/drawingml/2006/main">
              <a:ext uri="{FF2B5EF4-FFF2-40B4-BE49-F238E27FC236}">
                <a16:creationId xmlns:a16="http://schemas.microsoft.com/office/drawing/2014/main" id="{B53B0A72-2033-4492-A1B9-2A0D7FCAE7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4639925"/>
            <a:ext cx="106920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2035"/>
          </a:solidFill>
          <a:ln xmlns:a="http://schemas.openxmlformats.org/drawingml/2006/main" w="0">
            <a:noFill/>
          </a:ln>
        </p:spPr>
      </p:sp>
      <p:sp>
        <p:nvSpPr>
          <p:cNvPr id="109" name="Rectangle 108">
            <a:extLst xmlns:a="http://schemas.openxmlformats.org/drawingml/2006/main">
              <a:ext uri="{FF2B5EF4-FFF2-40B4-BE49-F238E27FC236}">
                <a16:creationId xmlns:a16="http://schemas.microsoft.com/office/drawing/2014/main" id="{DC6BB9C3-B187-4EC3-A83E-4E4FABBFE3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4782800"/>
            <a:ext cx="4095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63" b="0">
                <a:solidFill>
                  <a:srgbClr val="D7E7F1"/>
                </a:solidFill>
                <a:latin typeface="Arial"/>
                <a:ea typeface="Arial"/>
                <a:cs typeface="Arial"/>
              </a:defRPr>
            </a:pPr>
            <a:r>
              <a:t/>
            </a:r>
            <a:endParaRPr sz="863" b="0">
              <a:solidFill>
                <a:srgbClr val="D7E7F1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10" name="Rectangle 109">
            <a:extLst xmlns:a="http://schemas.openxmlformats.org/drawingml/2006/main">
              <a:ext uri="{FF2B5EF4-FFF2-40B4-BE49-F238E27FC236}">
                <a16:creationId xmlns:a16="http://schemas.microsoft.com/office/drawing/2014/main" id="{0EE2E8B4-012F-4342-BFBB-E582A09B4C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14773275"/>
            <a:ext cx="48482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863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t/>
            </a:r>
            <a:endParaRPr sz="863" b="1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6" name="Rectangle 45">
            <a:extLst xmlns:a="http://schemas.openxmlformats.org/drawingml/2006/main">
              <a:ext uri="{FF2B5EF4-FFF2-40B4-BE49-F238E27FC236}">
                <a16:creationId xmlns:a16="http://schemas.microsoft.com/office/drawing/2014/main" id="{22161A48-D260-15F5-4ACA-F47386E02A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5970" y="1304924"/>
            <a:ext cx="3865880" cy="127634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1">
                <a:solidFill>
                  <a:srgbClr val="E7A83A"/>
                </a:solidFill>
                <a:latin typeface="Arial"/>
                <a:ea typeface="Arial"/>
                <a:cs typeface="Arial"/>
              </a:defRPr>
            </a:pPr>
            <a:r>
              <a:rPr sz="1400" b="1">
                <a:solidFill>
                  <a:srgbClr val="E7A83A"/>
                </a:solidFill>
                <a:latin typeface="Arial"/>
                <a:ea typeface="Arial"/>
                <a:cs typeface="Arial"/>
              </a:rPr>
              <a:t/>
            </a:r>
          </a:p>
        </p:txBody>
      </p:sp>
      <p:pic>
        <p:nvPicPr>
          <p:cNvPr id="30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d08fe783a564ae1"/>
          <a:srcRect xmlns:a="http://schemas.openxmlformats.org/drawingml/2006/main" l="0" t="24611" r="0" b="24611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0692003" cy="1809750"/>
          </a:xfrm>
          <a:prstGeom xmlns:a="http://schemas.openxmlformats.org/drawingml/2006/main" prst="rect">
            <a:avLst/>
          </a:prstGeom>
        </p:spPr>
      </p:pic>
      <p:sp>
        <p:nvSpPr>
          <p:cNvPr id="169" name="Header image readability overlay">
            <a:extLst xmlns:a="http://schemas.openxmlformats.org/drawingml/2006/main">
              <a:ext uri="{FF2B5EF4-FFF2-40B4-BE49-F238E27FC236}">
                <a16:creationId xmlns:a16="http://schemas.microsoft.com/office/drawing/2014/main" id="{2A568929-8FEB-409B-85CF-BA5CE9AAE6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0692003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1B2D">
              <a:alpha val="62000"/>
            </a:srgbClr>
          </a:solidFill>
          <a:ln xmlns:a="http://schemas.openxmlformats.org/drawingml/2006/main" w="0">
            <a:noFill/>
          </a:ln>
        </p:spPr>
      </p:sp>
      <p:sp>
        <p:nvSpPr>
          <p:cNvPr id="170" name="Header project type">
            <a:extLst xmlns:a="http://schemas.openxmlformats.org/drawingml/2006/main">
              <a:ext uri="{FF2B5EF4-FFF2-40B4-BE49-F238E27FC236}">
                <a16:creationId xmlns:a16="http://schemas.microsoft.com/office/drawing/2014/main" id="{F1E32C18-AB35-4A2C-B880-B97066BB26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80975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38" b="1">
                <a:solidFill>
                  <a:srgbClr val="55CED0"/>
                </a:solidFill>
                <a:latin typeface="Arial"/>
                <a:ea typeface="Arial"/>
                <a:cs typeface="Arial"/>
              </a:defRPr>
            </a:pPr>
            <a:r>
              <a:rPr sz="938" b="1">
                <a:solidFill>
                  <a:srgbClr val="55CED0"/>
                </a:solidFill>
                <a:latin typeface="Arial"/>
                <a:ea typeface="Arial"/>
                <a:cs typeface="Arial"/>
              </a:rPr>
              <a:t>APPLIED MACHINE LEARNING PROJECT</a:t>
            </a:r>
          </a:p>
        </p:txBody>
      </p:sp>
      <p:sp>
        <p:nvSpPr>
          <p:cNvPr id="171" name="Header title foreground">
            <a:extLst xmlns:a="http://schemas.openxmlformats.org/drawingml/2006/main">
              <a:ext uri="{FF2B5EF4-FFF2-40B4-BE49-F238E27FC236}">
                <a16:creationId xmlns:a16="http://schemas.microsoft.com/office/drawing/2014/main" id="{B7E71678-D51B-4859-9C19-E37CADEC11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81000"/>
            <a:ext cx="6572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REFACTORGRAPH</a:t>
            </a:r>
          </a:p>
        </p:txBody>
      </p:sp>
      <p:sp>
        <p:nvSpPr>
          <p:cNvPr id="172" name="Header subtitle foreground">
            <a:extLst xmlns:a="http://schemas.openxmlformats.org/drawingml/2006/main">
              <a:ext uri="{FF2B5EF4-FFF2-40B4-BE49-F238E27FC236}">
                <a16:creationId xmlns:a16="http://schemas.microsoft.com/office/drawing/2014/main" id="{CE83D152-E2F9-45DB-A85B-E04D08BEA6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962025"/>
            <a:ext cx="68389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13">
                <a:solidFill>
                  <a:srgbClr val="E5EEF2"/>
                </a:solidFill>
                <a:latin typeface="Arial"/>
                <a:ea typeface="Arial"/>
                <a:cs typeface="Arial"/>
              </a:defRPr>
            </a:pPr>
            <a:r>
              <a:rPr sz="1313">
                <a:solidFill>
                  <a:srgbClr val="E5EEF2"/>
                </a:solidFill>
                <a:latin typeface="Arial"/>
                <a:ea typeface="Arial"/>
                <a:cs typeface="Arial"/>
              </a:rPr>
              <a:t>AI-assisted Python code smell detection and refactoring recommendation system</a:t>
            </a:r>
          </a:p>
        </p:txBody>
      </p:sp>
      <p:sp>
        <p:nvSpPr>
          <p:cNvPr id="173" name="Header authors foreground">
            <a:extLst xmlns:a="http://schemas.openxmlformats.org/drawingml/2006/main">
              <a:ext uri="{FF2B5EF4-FFF2-40B4-BE49-F238E27FC236}">
                <a16:creationId xmlns:a16="http://schemas.microsoft.com/office/drawing/2014/main" id="{129AB5D9-0BA6-466C-9B6B-965350AD0F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323975"/>
            <a:ext cx="666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38" b="1">
                <a:solidFill>
                  <a:srgbClr val="C8D8E0"/>
                </a:solidFill>
                <a:latin typeface="Arial"/>
                <a:ea typeface="Arial"/>
                <a:cs typeface="Arial"/>
              </a:defRPr>
            </a:pPr>
            <a:r>
              <a:rPr sz="938" b="1">
                <a:solidFill>
                  <a:srgbClr val="C8D8E0"/>
                </a:solidFill>
                <a:latin typeface="Arial"/>
                <a:ea typeface="Arial"/>
                <a:cs typeface="Arial"/>
              </a:rPr>
              <a:t>KIRTI VISPUTE | 23102C0078     ANJALI ATAWADKAR | 24102C2007</a:t>
            </a:r>
          </a:p>
        </p:txBody>
      </p:sp>
      <p:sp>
        <p:nvSpPr>
          <p:cNvPr id="174" name="Header status foreground">
            <a:extLst xmlns:a="http://schemas.openxmlformats.org/drawingml/2006/main">
              <a:ext uri="{FF2B5EF4-FFF2-40B4-BE49-F238E27FC236}">
                <a16:creationId xmlns:a16="http://schemas.microsoft.com/office/drawing/2014/main" id="{469AA499-D4F2-4D7D-83DE-C8BDCCC659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400050"/>
            <a:ext cx="2466975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2F43">
              <a:alpha val="88000"/>
            </a:srgbClr>
          </a:solidFill>
          <a:ln xmlns:a="http://schemas.openxmlformats.org/drawingml/2006/main" w="11430">
            <a:solidFill>
              <a:srgbClr val="55CED0"/>
            </a:solidFill>
            <a:prstDash val="solid"/>
          </a:ln>
        </p:spPr>
        <p:txBody>
          <a:bodyPr xmlns:a="http://schemas.openxmlformats.org/drawingml/2006/main" lIns="95250" tIns="57150" rIns="9525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38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38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FUNCTIONALLY READY</a:t>
            </a:r>
          </a:p>
          <a:p xmlns:a="http://schemas.openxmlformats.org/drawingml/2006/main">
            <a:pPr algn="ctr">
              <a:defRPr sz="938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38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MODEL AND TEST EVALUATION FROZEN</a:t>
            </a:r>
          </a:p>
        </p:txBody>
      </p:sp>
      <p:sp>
        <p:nvSpPr>
          <p:cNvPr id="175" name="Header date foreground">
            <a:extLst xmlns:a="http://schemas.openxmlformats.org/drawingml/2006/main">
              <a:ext uri="{FF2B5EF4-FFF2-40B4-BE49-F238E27FC236}">
                <a16:creationId xmlns:a16="http://schemas.microsoft.com/office/drawing/2014/main" id="{329DE149-01B1-461C-B093-5A096F50A6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1285875"/>
            <a:ext cx="23241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863">
                <a:solidFill>
                  <a:srgbClr val="DCE8ED"/>
                </a:solidFill>
                <a:latin typeface="Arial"/>
                <a:ea typeface="Arial"/>
                <a:cs typeface="Arial"/>
              </a:defRPr>
            </a:pPr>
            <a:r>
              <a:rPr sz="863">
                <a:solidFill>
                  <a:srgbClr val="DCE8ED"/>
                </a:solidFill>
                <a:latin typeface="Arial"/>
                <a:ea typeface="Arial"/>
                <a:cs typeface="Arial"/>
              </a:rPr>
              <a:t>Prepared 12 September 2026</a:t>
            </a:r>
          </a:p>
        </p:txBody>
      </p:sp>
      <p:sp>
        <p:nvSpPr>
          <p:cNvPr id="176" name="Overview metric divider">
            <a:extLst xmlns:a="http://schemas.openxmlformats.org/drawingml/2006/main">
              <a:ext uri="{FF2B5EF4-FFF2-40B4-BE49-F238E27FC236}">
                <a16:creationId xmlns:a16="http://schemas.microsoft.com/office/drawing/2014/main" id="{50ADE1A8-57D4-4589-BD88-92C0C95E55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2571750"/>
            <a:ext cx="0" cy="8382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BFCAD1"/>
            </a:solidFill>
            <a:prstDash val="solid"/>
          </a:ln>
        </p:spPr>
      </p:sp>
      <p:sp>
        <p:nvSpPr>
          <p:cNvPr id="177" name="Metric accent 1">
            <a:extLst xmlns:a="http://schemas.openxmlformats.org/drawingml/2006/main">
              <a:ext uri="{FF2B5EF4-FFF2-40B4-BE49-F238E27FC236}">
                <a16:creationId xmlns:a16="http://schemas.microsoft.com/office/drawing/2014/main" id="{AFA56F2F-D62C-451F-8A07-22608E535D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2571750"/>
            <a:ext cx="723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087E84"/>
            </a:solidFill>
            <a:prstDash val="solid"/>
          </a:ln>
        </p:spPr>
      </p:sp>
      <p:sp>
        <p:nvSpPr>
          <p:cNvPr id="178" name="Metric value 1">
            <a:extLst xmlns:a="http://schemas.openxmlformats.org/drawingml/2006/main">
              <a:ext uri="{FF2B5EF4-FFF2-40B4-BE49-F238E27FC236}">
                <a16:creationId xmlns:a16="http://schemas.microsoft.com/office/drawing/2014/main" id="{F70296E7-65EE-4849-BCA2-1AC172AA75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2647950"/>
            <a:ext cx="72390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087E84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087E84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179" name="Metric label 1">
            <a:extLst xmlns:a="http://schemas.openxmlformats.org/drawingml/2006/main">
              <a:ext uri="{FF2B5EF4-FFF2-40B4-BE49-F238E27FC236}">
                <a16:creationId xmlns:a16="http://schemas.microsoft.com/office/drawing/2014/main" id="{99DEA56A-5DA2-4F5E-ACDC-456F3EDB6D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81725" y="3038475"/>
            <a:ext cx="83820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788" b="1">
                <a:solidFill>
                  <a:srgbClr val="445866"/>
                </a:solidFill>
                <a:latin typeface="Arial"/>
                <a:ea typeface="Arial"/>
                <a:cs typeface="Arial"/>
              </a:defRPr>
            </a:pPr>
            <a:r>
              <a:rPr sz="788" b="1">
                <a:solidFill>
                  <a:srgbClr val="445866"/>
                </a:solidFill>
                <a:latin typeface="Arial"/>
                <a:ea typeface="Arial"/>
                <a:cs typeface="Arial"/>
              </a:rPr>
              <a:t>CODE</a:t>
            </a:r>
          </a:p>
          <a:p xmlns:a="http://schemas.openxmlformats.org/drawingml/2006/main">
            <a:pPr algn="ctr">
              <a:defRPr sz="788" b="1">
                <a:solidFill>
                  <a:srgbClr val="445866"/>
                </a:solidFill>
                <a:latin typeface="Arial"/>
                <a:ea typeface="Arial"/>
                <a:cs typeface="Arial"/>
              </a:defRPr>
            </a:pPr>
            <a:r>
              <a:rPr sz="788" b="1">
                <a:solidFill>
                  <a:srgbClr val="445866"/>
                </a:solidFill>
                <a:latin typeface="Arial"/>
                <a:ea typeface="Arial"/>
                <a:cs typeface="Arial"/>
              </a:rPr>
              <a:t>SMELLS</a:t>
            </a:r>
          </a:p>
        </p:txBody>
      </p:sp>
      <p:sp>
        <p:nvSpPr>
          <p:cNvPr id="180" name="Metric accent 2">
            <a:extLst xmlns:a="http://schemas.openxmlformats.org/drawingml/2006/main">
              <a:ext uri="{FF2B5EF4-FFF2-40B4-BE49-F238E27FC236}">
                <a16:creationId xmlns:a16="http://schemas.microsoft.com/office/drawing/2014/main" id="{956BEFF4-AE6A-4751-99B4-209E5A5A59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0425" y="2571750"/>
            <a:ext cx="723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087E84"/>
            </a:solidFill>
            <a:prstDash val="solid"/>
          </a:ln>
        </p:spPr>
      </p:sp>
      <p:sp>
        <p:nvSpPr>
          <p:cNvPr id="181" name="Metric value 2">
            <a:extLst xmlns:a="http://schemas.openxmlformats.org/drawingml/2006/main">
              <a:ext uri="{FF2B5EF4-FFF2-40B4-BE49-F238E27FC236}">
                <a16:creationId xmlns:a16="http://schemas.microsoft.com/office/drawing/2014/main" id="{A7D823B2-B045-4FE0-94CD-26B3122682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0425" y="2647950"/>
            <a:ext cx="72390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087E84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087E84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82" name="Metric label 2">
            <a:extLst xmlns:a="http://schemas.openxmlformats.org/drawingml/2006/main">
              <a:ext uri="{FF2B5EF4-FFF2-40B4-BE49-F238E27FC236}">
                <a16:creationId xmlns:a16="http://schemas.microsoft.com/office/drawing/2014/main" id="{E6E32318-F0B4-4D82-A4A3-68A4EC3BFD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53275" y="3038475"/>
            <a:ext cx="83820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788" b="1">
                <a:solidFill>
                  <a:srgbClr val="445866"/>
                </a:solidFill>
                <a:latin typeface="Arial"/>
                <a:ea typeface="Arial"/>
                <a:cs typeface="Arial"/>
              </a:defRPr>
            </a:pPr>
            <a:r>
              <a:rPr sz="788" b="1">
                <a:solidFill>
                  <a:srgbClr val="445866"/>
                </a:solidFill>
                <a:latin typeface="Arial"/>
                <a:ea typeface="Arial"/>
                <a:cs typeface="Arial"/>
              </a:rPr>
              <a:t>GAT</a:t>
            </a:r>
          </a:p>
          <a:p xmlns:a="http://schemas.openxmlformats.org/drawingml/2006/main">
            <a:pPr algn="ctr">
              <a:defRPr sz="788" b="1">
                <a:solidFill>
                  <a:srgbClr val="445866"/>
                </a:solidFill>
                <a:latin typeface="Arial"/>
                <a:ea typeface="Arial"/>
                <a:cs typeface="Arial"/>
              </a:defRPr>
            </a:pPr>
            <a:r>
              <a:rPr sz="788" b="1">
                <a:solidFill>
                  <a:srgbClr val="445866"/>
                </a:solidFill>
                <a:latin typeface="Arial"/>
                <a:ea typeface="Arial"/>
                <a:cs typeface="Arial"/>
              </a:rPr>
              <a:t>LAYERS</a:t>
            </a:r>
          </a:p>
        </p:txBody>
      </p:sp>
      <p:sp>
        <p:nvSpPr>
          <p:cNvPr id="183" name="Metric accent 3">
            <a:extLst xmlns:a="http://schemas.openxmlformats.org/drawingml/2006/main">
              <a:ext uri="{FF2B5EF4-FFF2-40B4-BE49-F238E27FC236}">
                <a16:creationId xmlns:a16="http://schemas.microsoft.com/office/drawing/2014/main" id="{604DA3A3-215A-49E9-AD9A-60B94AE860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1975" y="2571750"/>
            <a:ext cx="723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C8871B"/>
            </a:solidFill>
            <a:prstDash val="solid"/>
          </a:ln>
        </p:spPr>
      </p:sp>
      <p:sp>
        <p:nvSpPr>
          <p:cNvPr id="184" name="Metric value 3">
            <a:extLst xmlns:a="http://schemas.openxmlformats.org/drawingml/2006/main">
              <a:ext uri="{FF2B5EF4-FFF2-40B4-BE49-F238E27FC236}">
                <a16:creationId xmlns:a16="http://schemas.microsoft.com/office/drawing/2014/main" id="{8D98C9E6-32EB-4ECA-BFB1-07F318A38B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1975" y="2647950"/>
            <a:ext cx="72390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C8871B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C8871B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185" name="Metric label 3">
            <a:extLst xmlns:a="http://schemas.openxmlformats.org/drawingml/2006/main">
              <a:ext uri="{FF2B5EF4-FFF2-40B4-BE49-F238E27FC236}">
                <a16:creationId xmlns:a16="http://schemas.microsoft.com/office/drawing/2014/main" id="{5A65AE56-5667-4FA6-B2C2-BC36754771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4825" y="3038475"/>
            <a:ext cx="83820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788" b="1">
                <a:solidFill>
                  <a:srgbClr val="445866"/>
                </a:solidFill>
                <a:latin typeface="Arial"/>
                <a:ea typeface="Arial"/>
                <a:cs typeface="Arial"/>
              </a:defRPr>
            </a:pPr>
            <a:r>
              <a:rPr sz="788" b="1">
                <a:solidFill>
                  <a:srgbClr val="445866"/>
                </a:solidFill>
                <a:latin typeface="Arial"/>
                <a:ea typeface="Arial"/>
                <a:cs typeface="Arial"/>
              </a:rPr>
              <a:t>PREDICTION</a:t>
            </a:r>
          </a:p>
          <a:p xmlns:a="http://schemas.openxmlformats.org/drawingml/2006/main">
            <a:pPr algn="ctr">
              <a:defRPr sz="788" b="1">
                <a:solidFill>
                  <a:srgbClr val="445866"/>
                </a:solidFill>
                <a:latin typeface="Arial"/>
                <a:ea typeface="Arial"/>
                <a:cs typeface="Arial"/>
              </a:defRPr>
            </a:pPr>
            <a:r>
              <a:rPr sz="788" b="1">
                <a:solidFill>
                  <a:srgbClr val="445866"/>
                </a:solidFill>
                <a:latin typeface="Arial"/>
                <a:ea typeface="Arial"/>
                <a:cs typeface="Arial"/>
              </a:rPr>
              <a:t>HEADS</a:t>
            </a:r>
          </a:p>
        </p:txBody>
      </p:sp>
      <p:sp>
        <p:nvSpPr>
          <p:cNvPr id="186" name="Metric accent 4">
            <a:extLst xmlns:a="http://schemas.openxmlformats.org/drawingml/2006/main">
              <a:ext uri="{FF2B5EF4-FFF2-40B4-BE49-F238E27FC236}">
                <a16:creationId xmlns:a16="http://schemas.microsoft.com/office/drawing/2014/main" id="{875D3DB3-E2D1-4941-B846-8A810E7E40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53525" y="2571750"/>
            <a:ext cx="723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C8871B"/>
            </a:solidFill>
            <a:prstDash val="solid"/>
          </a:ln>
        </p:spPr>
      </p:sp>
      <p:sp>
        <p:nvSpPr>
          <p:cNvPr id="187" name="Metric value 4">
            <a:extLst xmlns:a="http://schemas.openxmlformats.org/drawingml/2006/main">
              <a:ext uri="{FF2B5EF4-FFF2-40B4-BE49-F238E27FC236}">
                <a16:creationId xmlns:a16="http://schemas.microsoft.com/office/drawing/2014/main" id="{FD84CEB7-BB60-4372-848B-69C3C51F34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53525" y="2647950"/>
            <a:ext cx="72390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C8871B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C8871B"/>
                </a:solidFill>
                <a:latin typeface="Arial"/>
                <a:ea typeface="Arial"/>
                <a:cs typeface="Arial"/>
              </a:rPr>
              <a:t>15</a:t>
            </a:r>
          </a:p>
        </p:txBody>
      </p:sp>
      <p:sp>
        <p:nvSpPr>
          <p:cNvPr id="188" name="Metric label 4">
            <a:extLst xmlns:a="http://schemas.openxmlformats.org/drawingml/2006/main">
              <a:ext uri="{FF2B5EF4-FFF2-40B4-BE49-F238E27FC236}">
                <a16:creationId xmlns:a16="http://schemas.microsoft.com/office/drawing/2014/main" id="{6BBBB668-6EE2-453A-BEAA-8A53472845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96375" y="3038475"/>
            <a:ext cx="83820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788" b="1">
                <a:solidFill>
                  <a:srgbClr val="445866"/>
                </a:solidFill>
                <a:latin typeface="Arial"/>
                <a:ea typeface="Arial"/>
                <a:cs typeface="Arial"/>
              </a:defRPr>
            </a:pPr>
            <a:r>
              <a:rPr sz="788" b="1">
                <a:solidFill>
                  <a:srgbClr val="445866"/>
                </a:solidFill>
                <a:latin typeface="Arial"/>
                <a:ea typeface="Arial"/>
                <a:cs typeface="Arial"/>
              </a:rPr>
              <a:t>SOURCE</a:t>
            </a:r>
          </a:p>
          <a:p xmlns:a="http://schemas.openxmlformats.org/drawingml/2006/main">
            <a:pPr algn="ctr">
              <a:defRPr sz="788" b="1">
                <a:solidFill>
                  <a:srgbClr val="445866"/>
                </a:solidFill>
                <a:latin typeface="Arial"/>
                <a:ea typeface="Arial"/>
                <a:cs typeface="Arial"/>
              </a:defRPr>
            </a:pPr>
            <a:r>
              <a:rPr sz="788" b="1">
                <a:solidFill>
                  <a:srgbClr val="445866"/>
                </a:solidFill>
                <a:latin typeface="Arial"/>
                <a:ea typeface="Arial"/>
                <a:cs typeface="Arial"/>
              </a:rPr>
              <a:t>REPOSITORIES</a:t>
            </a:r>
          </a:p>
        </p:txBody>
      </p:sp>
      <p:graphicFrame>
        <p:nvGraphicFramePr>
          <p:cNvPr id="325" name="Chart"/>
          <p:cNvGraphicFramePr/>
          <p:nvPr/>
        </p:nvGraphicFramePr>
        <p:xfrm>
          <a:off xmlns:a="http://schemas.openxmlformats.org/drawingml/2006/main" x="5486400" y="8020050"/>
          <a:ext xmlns:a="http://schemas.openxmlformats.org/drawingml/2006/main" cx="4695825" cy="24765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643c6a7e05384605"/>
          </a:graphicData>
        </a:graphic>
      </p:graphicFrame>
      <p:sp>
        <p:nvSpPr>
          <p:cNvPr id="190" name="Results highlight rule">
            <a:extLst xmlns:a="http://schemas.openxmlformats.org/drawingml/2006/main">
              <a:ext uri="{FF2B5EF4-FFF2-40B4-BE49-F238E27FC236}">
                <a16:creationId xmlns:a16="http://schemas.microsoft.com/office/drawing/2014/main" id="{FA1D5D14-05D5-493C-BE1E-FC3A8B4956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7962900"/>
            <a:ext cx="46577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0955">
            <a:solidFill>
              <a:srgbClr val="D9A441"/>
            </a:solidFill>
            <a:prstDash val="solid"/>
          </a:ln>
        </p:spPr>
      </p:sp>
      <p:sp>
        <p:nvSpPr>
          <p:cNvPr id="191" name="Limitations highlight rule">
            <a:extLst xmlns:a="http://schemas.openxmlformats.org/drawingml/2006/main">
              <a:ext uri="{FF2B5EF4-FFF2-40B4-BE49-F238E27FC236}">
                <a16:creationId xmlns:a16="http://schemas.microsoft.com/office/drawing/2014/main" id="{AF6DE4D8-A76B-4B2C-A534-DB64665EF7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13477875"/>
            <a:ext cx="46577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383">
            <a:solidFill>
              <a:srgbClr val="7A8790"/>
            </a:solidFill>
            <a:prstDash val="solid"/>
          </a:ln>
        </p:spPr>
      </p:sp>
      <p:sp>
        <p:nvSpPr>
          <p:cNvPr id="192" name="Footer source foreground">
            <a:extLst xmlns:a="http://schemas.openxmlformats.org/drawingml/2006/main">
              <a:ext uri="{FF2B5EF4-FFF2-40B4-BE49-F238E27FC236}">
                <a16:creationId xmlns:a16="http://schemas.microsoft.com/office/drawing/2014/main" id="{F4C63B4E-8C81-45EF-BDFF-BB483CBB8F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4754225"/>
            <a:ext cx="4095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88" b="1">
                <a:solidFill>
                  <a:srgbClr val="DCE8ED"/>
                </a:solidFill>
                <a:latin typeface="Arial"/>
                <a:ea typeface="Arial"/>
                <a:cs typeface="Arial"/>
              </a:defRPr>
            </a:pPr>
            <a:r>
              <a:rPr sz="788" b="1">
                <a:solidFill>
                  <a:srgbClr val="DCE8ED"/>
                </a:solidFill>
                <a:latin typeface="Arial"/>
                <a:ea typeface="Arial"/>
                <a:cs typeface="Arial"/>
              </a:rPr>
              <a:t>SOURCE: AML_Project_Summary.docx</a:t>
            </a:r>
          </a:p>
        </p:txBody>
      </p:sp>
      <p:sp>
        <p:nvSpPr>
          <p:cNvPr id="193" name="Footer research foreground">
            <a:extLst xmlns:a="http://schemas.openxmlformats.org/drawingml/2006/main">
              <a:ext uri="{FF2B5EF4-FFF2-40B4-BE49-F238E27FC236}">
                <a16:creationId xmlns:a16="http://schemas.microsoft.com/office/drawing/2014/main" id="{74F77227-FD2C-40B0-9952-1147E791C4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14754225"/>
            <a:ext cx="48482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788">
                <a:solidFill>
                  <a:srgbClr val="DCE8ED"/>
                </a:solidFill>
                <a:latin typeface="Arial"/>
                <a:ea typeface="Arial"/>
                <a:cs typeface="Arial"/>
              </a:defRPr>
            </a:pPr>
            <a:r>
              <a:rPr sz="788">
                <a:solidFill>
                  <a:srgbClr val="DCE8ED"/>
                </a:solidFill>
                <a:latin typeface="Arial"/>
                <a:ea typeface="Arial"/>
                <a:cs typeface="Arial"/>
              </a:rPr>
              <a:t>FUTURE RESEARCH: Human-reviewed benchmark before real-world precision claims</a:t>
            </a:r>
          </a:p>
        </p:txBody>
      </p:sp>
    </p:spTree>
    <p:extLst>
      <p:ext uri="{BB962C8B-B14F-4D97-AF65-F5344CB8AC3E}">
        <p14:creationId xmlns:p14="http://schemas.microsoft.com/office/powerpoint/2010/main" val="1992583685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2026-09-13T17:13:57.6010000Z</dcterms:created>
  <dcterms:modified xsi:type="dcterms:W3CDTF">2026-09-13T17:13:57.6010000Z</dcterms:modified>
</coreProperties>
</file>